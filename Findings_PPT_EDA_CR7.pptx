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D1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E1126"/>
          </a:solidFill>
          <a:ln w="12700">
            <a:solidFill>
              <a:srgbClr val="CE1126"/>
            </a:solidFill>
            <a:prstDash val="solid"/>
          </a:ln>
        </p:spPr>
      </p:sp>
      <p:sp>
        <p:nvSpPr>
          <p:cNvPr id="3" name="Shape 1"/>
          <p:cNvSpPr/>
          <p:nvPr/>
        </p:nvSpPr>
        <p:spPr>
          <a:xfrm>
            <a:off x="164592" y="0"/>
            <a:ext cx="73152" cy="6858000"/>
          </a:xfrm>
          <a:prstGeom prst="rect">
            <a:avLst/>
          </a:prstGeom>
          <a:solidFill>
            <a:srgbClr val="006600"/>
          </a:solidFill>
          <a:ln w="12700">
            <a:solidFill>
              <a:srgbClr val="006600"/>
            </a:solidFill>
            <a:prstDash val="solid"/>
          </a:ln>
        </p:spPr>
      </p:sp>
      <p:sp>
        <p:nvSpPr>
          <p:cNvPr id="4" name="Text 2"/>
          <p:cNvSpPr/>
          <p:nvPr/>
        </p:nvSpPr>
        <p:spPr>
          <a:xfrm>
            <a:off x="6858000" y="182880"/>
            <a:ext cx="5029200" cy="6217920"/>
          </a:xfrm>
          <a:prstGeom prst="rect">
            <a:avLst/>
          </a:prstGeom>
          <a:noFill/>
          <a:ln/>
        </p:spPr>
        <p:txBody>
          <a:bodyPr wrap="square" rtlCol="0" anchor="ctr"/>
          <a:lstStyle/>
          <a:p>
            <a:pPr algn="ctr" indent="0" marL="0">
              <a:buNone/>
            </a:pPr>
            <a:r>
              <a:rPr lang="en-US" sz="32000" b="1" dirty="0">
                <a:solidFill>
                  <a:srgbClr val="1A1A35"/>
                </a:solidFill>
              </a:rPr>
              <a:t>7</a:t>
            </a:r>
            <a:endParaRPr lang="en-US" sz="32000" dirty="0"/>
          </a:p>
        </p:txBody>
      </p:sp>
      <p:sp>
        <p:nvSpPr>
          <p:cNvPr id="5" name="Shape 3"/>
          <p:cNvSpPr/>
          <p:nvPr/>
        </p:nvSpPr>
        <p:spPr>
          <a:xfrm>
            <a:off x="548640" y="5074920"/>
            <a:ext cx="2103120" cy="1417320"/>
          </a:xfrm>
          <a:prstGeom prst="rect">
            <a:avLst/>
          </a:prstGeom>
          <a:solidFill>
            <a:srgbClr val="161628"/>
          </a:solidFill>
          <a:ln w="12700">
            <a:solidFill>
              <a:srgbClr val="CE1126"/>
            </a:solidFill>
            <a:prstDash val="solid"/>
          </a:ln>
          <a:effectLst>
            <a:outerShdw sx="100000" sy="100000" kx="0" ky="0" algn="bl" rotWithShape="0" blurRad="127000" dist="38100" dir="8100000">
              <a:srgbClr val="000000">
                <a:alpha val="35000"/>
              </a:srgbClr>
            </a:outerShdw>
          </a:effectLst>
        </p:spPr>
      </p:sp>
      <p:sp>
        <p:nvSpPr>
          <p:cNvPr id="6" name="Text 4"/>
          <p:cNvSpPr/>
          <p:nvPr/>
        </p:nvSpPr>
        <p:spPr>
          <a:xfrm>
            <a:off x="548640" y="5102352"/>
            <a:ext cx="2103120" cy="685800"/>
          </a:xfrm>
          <a:prstGeom prst="rect">
            <a:avLst/>
          </a:prstGeom>
          <a:noFill/>
          <a:ln/>
        </p:spPr>
        <p:txBody>
          <a:bodyPr wrap="square" rtlCol="0" anchor="ctr"/>
          <a:lstStyle/>
          <a:p>
            <a:pPr algn="ctr" indent="0" marL="0">
              <a:buNone/>
            </a:pPr>
            <a:r>
              <a:rPr lang="en-US" sz="3000" b="1" dirty="0">
                <a:solidFill>
                  <a:srgbClr val="CE1126"/>
                </a:solidFill>
              </a:rPr>
              <a:t>196</a:t>
            </a:r>
            <a:endParaRPr lang="en-US" sz="3000" dirty="0"/>
          </a:p>
        </p:txBody>
      </p:sp>
      <p:sp>
        <p:nvSpPr>
          <p:cNvPr id="7" name="Text 5"/>
          <p:cNvSpPr/>
          <p:nvPr/>
        </p:nvSpPr>
        <p:spPr>
          <a:xfrm>
            <a:off x="548640" y="5742432"/>
            <a:ext cx="2103120" cy="685800"/>
          </a:xfrm>
          <a:prstGeom prst="rect">
            <a:avLst/>
          </a:prstGeom>
          <a:noFill/>
          <a:ln/>
        </p:spPr>
        <p:txBody>
          <a:bodyPr wrap="square" rtlCol="0" anchor="ctr"/>
          <a:lstStyle/>
          <a:p>
            <a:pPr algn="ctr" indent="0" marL="0">
              <a:buNone/>
            </a:pPr>
            <a:r>
              <a:rPr lang="en-US" sz="1050" dirty="0">
                <a:solidFill>
                  <a:srgbClr val="9099AA"/>
                </a:solidFill>
              </a:rPr>
              <a:t>International</a:t>
            </a:r>
            <a:endParaRPr lang="en-US" sz="1050" dirty="0"/>
          </a:p>
          <a:p>
            <a:pPr algn="ctr" indent="0" marL="0">
              <a:buNone/>
            </a:pPr>
            <a:r>
              <a:rPr lang="en-US" sz="1050" dirty="0">
                <a:solidFill>
                  <a:srgbClr val="9099AA"/>
                </a:solidFill>
              </a:rPr>
              <a:t>Caps</a:t>
            </a:r>
            <a:endParaRPr lang="en-US" sz="1050" dirty="0"/>
          </a:p>
        </p:txBody>
      </p:sp>
      <p:sp>
        <p:nvSpPr>
          <p:cNvPr id="8" name="Shape 6"/>
          <p:cNvSpPr/>
          <p:nvPr/>
        </p:nvSpPr>
        <p:spPr>
          <a:xfrm>
            <a:off x="2926080" y="5074920"/>
            <a:ext cx="2103120" cy="1417320"/>
          </a:xfrm>
          <a:prstGeom prst="rect">
            <a:avLst/>
          </a:prstGeom>
          <a:solidFill>
            <a:srgbClr val="161628"/>
          </a:solidFill>
          <a:ln w="12700">
            <a:solidFill>
              <a:srgbClr val="CE1126"/>
            </a:solidFill>
            <a:prstDash val="solid"/>
          </a:ln>
          <a:effectLst>
            <a:outerShdw sx="100000" sy="100000" kx="0" ky="0" algn="bl" rotWithShape="0" blurRad="127000" dist="38100" dir="8100000">
              <a:srgbClr val="000000">
                <a:alpha val="35000"/>
              </a:srgbClr>
            </a:outerShdw>
          </a:effectLst>
        </p:spPr>
      </p:sp>
      <p:sp>
        <p:nvSpPr>
          <p:cNvPr id="9" name="Text 7"/>
          <p:cNvSpPr/>
          <p:nvPr/>
        </p:nvSpPr>
        <p:spPr>
          <a:xfrm>
            <a:off x="2926080" y="5102352"/>
            <a:ext cx="2103120" cy="685800"/>
          </a:xfrm>
          <a:prstGeom prst="rect">
            <a:avLst/>
          </a:prstGeom>
          <a:noFill/>
          <a:ln/>
        </p:spPr>
        <p:txBody>
          <a:bodyPr wrap="square" rtlCol="0" anchor="ctr"/>
          <a:lstStyle/>
          <a:p>
            <a:pPr algn="ctr" indent="0" marL="0">
              <a:buNone/>
            </a:pPr>
            <a:r>
              <a:rPr lang="en-US" sz="3000" b="1" dirty="0">
                <a:solidFill>
                  <a:srgbClr val="CE1126"/>
                </a:solidFill>
              </a:rPr>
              <a:t>130+</a:t>
            </a:r>
            <a:endParaRPr lang="en-US" sz="3000" dirty="0"/>
          </a:p>
        </p:txBody>
      </p:sp>
      <p:sp>
        <p:nvSpPr>
          <p:cNvPr id="10" name="Text 8"/>
          <p:cNvSpPr/>
          <p:nvPr/>
        </p:nvSpPr>
        <p:spPr>
          <a:xfrm>
            <a:off x="2926080" y="5742432"/>
            <a:ext cx="2103120" cy="685800"/>
          </a:xfrm>
          <a:prstGeom prst="rect">
            <a:avLst/>
          </a:prstGeom>
          <a:noFill/>
          <a:ln/>
        </p:spPr>
        <p:txBody>
          <a:bodyPr wrap="square" rtlCol="0" anchor="ctr"/>
          <a:lstStyle/>
          <a:p>
            <a:pPr algn="ctr" indent="0" marL="0">
              <a:buNone/>
            </a:pPr>
            <a:r>
              <a:rPr lang="en-US" sz="1050" dirty="0">
                <a:solidFill>
                  <a:srgbClr val="9099AA"/>
                </a:solidFill>
              </a:rPr>
              <a:t>International</a:t>
            </a:r>
            <a:endParaRPr lang="en-US" sz="1050" dirty="0"/>
          </a:p>
          <a:p>
            <a:pPr algn="ctr" indent="0" marL="0">
              <a:buNone/>
            </a:pPr>
            <a:r>
              <a:rPr lang="en-US" sz="1050" dirty="0">
                <a:solidFill>
                  <a:srgbClr val="9099AA"/>
                </a:solidFill>
              </a:rPr>
              <a:t>Goals</a:t>
            </a:r>
            <a:endParaRPr lang="en-US" sz="1050" dirty="0"/>
          </a:p>
        </p:txBody>
      </p:sp>
      <p:sp>
        <p:nvSpPr>
          <p:cNvPr id="11" name="Shape 9"/>
          <p:cNvSpPr/>
          <p:nvPr/>
        </p:nvSpPr>
        <p:spPr>
          <a:xfrm>
            <a:off x="5303520" y="5074920"/>
            <a:ext cx="2103120" cy="1417320"/>
          </a:xfrm>
          <a:prstGeom prst="rect">
            <a:avLst/>
          </a:prstGeom>
          <a:solidFill>
            <a:srgbClr val="161628"/>
          </a:solidFill>
          <a:ln w="12700">
            <a:solidFill>
              <a:srgbClr val="CE1126"/>
            </a:solidFill>
            <a:prstDash val="solid"/>
          </a:ln>
          <a:effectLst>
            <a:outerShdw sx="100000" sy="100000" kx="0" ky="0" algn="bl" rotWithShape="0" blurRad="127000" dist="38100" dir="8100000">
              <a:srgbClr val="000000">
                <a:alpha val="35000"/>
              </a:srgbClr>
            </a:outerShdw>
          </a:effectLst>
        </p:spPr>
      </p:sp>
      <p:sp>
        <p:nvSpPr>
          <p:cNvPr id="12" name="Text 10"/>
          <p:cNvSpPr/>
          <p:nvPr/>
        </p:nvSpPr>
        <p:spPr>
          <a:xfrm>
            <a:off x="5303520" y="5102352"/>
            <a:ext cx="2103120" cy="685800"/>
          </a:xfrm>
          <a:prstGeom prst="rect">
            <a:avLst/>
          </a:prstGeom>
          <a:noFill/>
          <a:ln/>
        </p:spPr>
        <p:txBody>
          <a:bodyPr wrap="square" rtlCol="0" anchor="ctr"/>
          <a:lstStyle/>
          <a:p>
            <a:pPr algn="ctr" indent="0" marL="0">
              <a:buNone/>
            </a:pPr>
            <a:r>
              <a:rPr lang="en-US" sz="3000" b="1" dirty="0">
                <a:solidFill>
                  <a:srgbClr val="CE1126"/>
                </a:solidFill>
              </a:rPr>
              <a:t>2016</a:t>
            </a:r>
            <a:endParaRPr lang="en-US" sz="3000" dirty="0"/>
          </a:p>
        </p:txBody>
      </p:sp>
      <p:sp>
        <p:nvSpPr>
          <p:cNvPr id="13" name="Text 11"/>
          <p:cNvSpPr/>
          <p:nvPr/>
        </p:nvSpPr>
        <p:spPr>
          <a:xfrm>
            <a:off x="5303520" y="5742432"/>
            <a:ext cx="2103120" cy="685800"/>
          </a:xfrm>
          <a:prstGeom prst="rect">
            <a:avLst/>
          </a:prstGeom>
          <a:noFill/>
          <a:ln/>
        </p:spPr>
        <p:txBody>
          <a:bodyPr wrap="square" rtlCol="0" anchor="ctr"/>
          <a:lstStyle/>
          <a:p>
            <a:pPr algn="ctr" indent="0" marL="0">
              <a:buNone/>
            </a:pPr>
            <a:r>
              <a:rPr lang="en-US" sz="1050" dirty="0">
                <a:solidFill>
                  <a:srgbClr val="9099AA"/>
                </a:solidFill>
              </a:rPr>
              <a:t>Euro</a:t>
            </a:r>
            <a:endParaRPr lang="en-US" sz="1050" dirty="0"/>
          </a:p>
          <a:p>
            <a:pPr algn="ctr" indent="0" marL="0">
              <a:buNone/>
            </a:pPr>
            <a:r>
              <a:rPr lang="en-US" sz="1050" dirty="0">
                <a:solidFill>
                  <a:srgbClr val="9099AA"/>
                </a:solidFill>
              </a:rPr>
              <a:t>Champion</a:t>
            </a:r>
            <a:endParaRPr lang="en-US" sz="1050" dirty="0"/>
          </a:p>
        </p:txBody>
      </p:sp>
      <p:sp>
        <p:nvSpPr>
          <p:cNvPr id="14" name="Shape 12"/>
          <p:cNvSpPr/>
          <p:nvPr/>
        </p:nvSpPr>
        <p:spPr>
          <a:xfrm>
            <a:off x="7680960" y="5074920"/>
            <a:ext cx="2103120" cy="1417320"/>
          </a:xfrm>
          <a:prstGeom prst="rect">
            <a:avLst/>
          </a:prstGeom>
          <a:solidFill>
            <a:srgbClr val="161628"/>
          </a:solidFill>
          <a:ln w="12700">
            <a:solidFill>
              <a:srgbClr val="CE1126"/>
            </a:solidFill>
            <a:prstDash val="solid"/>
          </a:ln>
          <a:effectLst>
            <a:outerShdw sx="100000" sy="100000" kx="0" ky="0" algn="bl" rotWithShape="0" blurRad="127000" dist="38100" dir="8100000">
              <a:srgbClr val="000000">
                <a:alpha val="35000"/>
              </a:srgbClr>
            </a:outerShdw>
          </a:effectLst>
        </p:spPr>
      </p:sp>
      <p:sp>
        <p:nvSpPr>
          <p:cNvPr id="15" name="Text 13"/>
          <p:cNvSpPr/>
          <p:nvPr/>
        </p:nvSpPr>
        <p:spPr>
          <a:xfrm>
            <a:off x="7680960" y="5102352"/>
            <a:ext cx="2103120" cy="685800"/>
          </a:xfrm>
          <a:prstGeom prst="rect">
            <a:avLst/>
          </a:prstGeom>
          <a:noFill/>
          <a:ln/>
        </p:spPr>
        <p:txBody>
          <a:bodyPr wrap="square" rtlCol="0" anchor="ctr"/>
          <a:lstStyle/>
          <a:p>
            <a:pPr algn="ctr" indent="0" marL="0">
              <a:buNone/>
            </a:pPr>
            <a:r>
              <a:rPr lang="en-US" sz="3000" b="1" dirty="0">
                <a:solidFill>
                  <a:srgbClr val="CE1126"/>
                </a:solidFill>
              </a:rPr>
              <a:t>5x</a:t>
            </a:r>
            <a:endParaRPr lang="en-US" sz="3000" dirty="0"/>
          </a:p>
        </p:txBody>
      </p:sp>
      <p:sp>
        <p:nvSpPr>
          <p:cNvPr id="16" name="Text 14"/>
          <p:cNvSpPr/>
          <p:nvPr/>
        </p:nvSpPr>
        <p:spPr>
          <a:xfrm>
            <a:off x="7680960" y="5742432"/>
            <a:ext cx="2103120" cy="685800"/>
          </a:xfrm>
          <a:prstGeom prst="rect">
            <a:avLst/>
          </a:prstGeom>
          <a:noFill/>
          <a:ln/>
        </p:spPr>
        <p:txBody>
          <a:bodyPr wrap="square" rtlCol="0" anchor="ctr"/>
          <a:lstStyle/>
          <a:p>
            <a:pPr algn="ctr" indent="0" marL="0">
              <a:buNone/>
            </a:pPr>
            <a:r>
              <a:rPr lang="en-US" sz="1050" dirty="0">
                <a:solidFill>
                  <a:srgbClr val="9099AA"/>
                </a:solidFill>
              </a:rPr>
              <a:t>Ballon</a:t>
            </a:r>
            <a:endParaRPr lang="en-US" sz="1050" dirty="0"/>
          </a:p>
          <a:p>
            <a:pPr algn="ctr" indent="0" marL="0">
              <a:buNone/>
            </a:pPr>
            <a:r>
              <a:rPr lang="en-US" sz="1050" dirty="0">
                <a:solidFill>
                  <a:srgbClr val="9099AA"/>
                </a:solidFill>
              </a:rPr>
              <a:t>d'Or</a:t>
            </a:r>
            <a:endParaRPr lang="en-US" sz="1050" dirty="0"/>
          </a:p>
        </p:txBody>
      </p:sp>
      <p:sp>
        <p:nvSpPr>
          <p:cNvPr id="17" name="Text 15"/>
          <p:cNvSpPr/>
          <p:nvPr/>
        </p:nvSpPr>
        <p:spPr>
          <a:xfrm>
            <a:off x="502920" y="502920"/>
            <a:ext cx="8229600" cy="822960"/>
          </a:xfrm>
          <a:prstGeom prst="rect">
            <a:avLst/>
          </a:prstGeom>
          <a:noFill/>
          <a:ln/>
        </p:spPr>
        <p:txBody>
          <a:bodyPr wrap="square" rtlCol="0" anchor="ctr"/>
          <a:lstStyle/>
          <a:p>
            <a:pPr indent="0" marL="0">
              <a:buNone/>
            </a:pPr>
            <a:r>
              <a:rPr lang="en-US" sz="4000" b="1" spc="400" kern="0" dirty="0">
                <a:solidFill>
                  <a:srgbClr val="FFFFFF"/>
                </a:solidFill>
              </a:rPr>
              <a:t>CRISTIANO RONALDO</a:t>
            </a:r>
            <a:endParaRPr lang="en-US" sz="4000" dirty="0"/>
          </a:p>
        </p:txBody>
      </p:sp>
      <p:sp>
        <p:nvSpPr>
          <p:cNvPr id="18" name="Text 16"/>
          <p:cNvSpPr/>
          <p:nvPr/>
        </p:nvSpPr>
        <p:spPr>
          <a:xfrm>
            <a:off x="502920" y="1261872"/>
            <a:ext cx="8229600" cy="457200"/>
          </a:xfrm>
          <a:prstGeom prst="rect">
            <a:avLst/>
          </a:prstGeom>
          <a:noFill/>
          <a:ln/>
        </p:spPr>
        <p:txBody>
          <a:bodyPr wrap="square" rtlCol="0" anchor="ctr"/>
          <a:lstStyle/>
          <a:p>
            <a:pPr indent="0" marL="0">
              <a:buNone/>
            </a:pPr>
            <a:r>
              <a:rPr lang="en-US" sz="1800" dirty="0">
                <a:solidFill>
                  <a:srgbClr val="F5C518"/>
                </a:solidFill>
              </a:rPr>
              <a:t>Career Analysis — Portugal International Record</a:t>
            </a:r>
            <a:endParaRPr lang="en-US" sz="1800" dirty="0"/>
          </a:p>
        </p:txBody>
      </p:sp>
      <p:sp>
        <p:nvSpPr>
          <p:cNvPr id="19" name="Text 17"/>
          <p:cNvSpPr/>
          <p:nvPr/>
        </p:nvSpPr>
        <p:spPr>
          <a:xfrm>
            <a:off x="502920" y="1755648"/>
            <a:ext cx="8229600" cy="347472"/>
          </a:xfrm>
          <a:prstGeom prst="rect">
            <a:avLst/>
          </a:prstGeom>
          <a:noFill/>
          <a:ln/>
        </p:spPr>
        <p:txBody>
          <a:bodyPr wrap="square" rtlCol="0" anchor="ctr"/>
          <a:lstStyle/>
          <a:p>
            <a:pPr indent="0" marL="0">
              <a:buNone/>
            </a:pPr>
            <a:r>
              <a:rPr lang="en-US" sz="1300" dirty="0">
                <a:solidFill>
                  <a:srgbClr val="9099AA"/>
                </a:solidFill>
              </a:rPr>
              <a:t>Exploratory Data Analysis  |  Football Performance Study</a:t>
            </a:r>
            <a:endParaRPr lang="en-US" sz="1300" dirty="0"/>
          </a:p>
        </p:txBody>
      </p:sp>
      <p:sp>
        <p:nvSpPr>
          <p:cNvPr id="20" name="Shape 18"/>
          <p:cNvSpPr/>
          <p:nvPr/>
        </p:nvSpPr>
        <p:spPr>
          <a:xfrm>
            <a:off x="502920" y="2212848"/>
            <a:ext cx="5029200" cy="36576"/>
          </a:xfrm>
          <a:prstGeom prst="rect">
            <a:avLst/>
          </a:prstGeom>
          <a:solidFill>
            <a:srgbClr val="CE1126"/>
          </a:solidFill>
          <a:ln w="12700">
            <a:solidFill>
              <a:srgbClr val="CE1126"/>
            </a:solidFill>
            <a:prstDash val="solid"/>
          </a:ln>
        </p:spPr>
      </p:sp>
      <p:sp>
        <p:nvSpPr>
          <p:cNvPr id="21" name="Text 19"/>
          <p:cNvSpPr/>
          <p:nvPr/>
        </p:nvSpPr>
        <p:spPr>
          <a:xfrm>
            <a:off x="502920" y="2377440"/>
            <a:ext cx="7772400" cy="2468880"/>
          </a:xfrm>
          <a:prstGeom prst="rect">
            <a:avLst/>
          </a:prstGeom>
          <a:noFill/>
          <a:ln/>
        </p:spPr>
        <p:txBody>
          <a:bodyPr wrap="square" rtlCol="0" anchor="ctr"/>
          <a:lstStyle/>
          <a:p>
            <a:pPr marL="342900" indent="-342900">
              <a:buSzPct val="100000"/>
              <a:buChar char="•"/>
            </a:pPr>
            <a:r>
              <a:rPr lang="en-US" sz="1200" dirty="0">
                <a:solidFill>
                  <a:srgbClr val="FFFFFF"/>
                </a:solidFill>
              </a:rPr>
              <a:t>Born: February 5, 1985 — Funchal, Madeira, Portugal</a:t>
            </a:r>
            <a:endParaRPr lang="en-US" sz="1200" dirty="0"/>
          </a:p>
          <a:p>
            <a:pPr marL="342900" indent="-342900">
              <a:buSzPct val="100000"/>
              <a:buChar char="•"/>
            </a:pPr>
            <a:r>
              <a:rPr lang="en-US" sz="1200" dirty="0">
                <a:solidFill>
                  <a:srgbClr val="9099AA"/>
                </a:solidFill>
              </a:rPr>
              <a:t>Position: Forward (Winger / Striker)</a:t>
            </a:r>
            <a:endParaRPr lang="en-US" sz="1200" dirty="0"/>
          </a:p>
          <a:p>
            <a:pPr marL="342900" indent="-342900">
              <a:buSzPct val="100000"/>
              <a:buChar char="•"/>
            </a:pPr>
            <a:r>
              <a:rPr lang="en-US" sz="1200" dirty="0">
                <a:solidFill>
                  <a:srgbClr val="9099AA"/>
                </a:solidFill>
              </a:rPr>
              <a:t>Senior debut: August 20, 2003 vs Kazakhstan</a:t>
            </a:r>
            <a:endParaRPr lang="en-US" sz="1200" dirty="0"/>
          </a:p>
          <a:p>
            <a:pPr marL="342900" indent="-342900">
              <a:buSzPct val="100000"/>
              <a:buChar char="•"/>
            </a:pPr>
            <a:r>
              <a:rPr lang="en-US" sz="1200" dirty="0">
                <a:solidFill>
                  <a:srgbClr val="9099AA"/>
                </a:solidFill>
              </a:rPr>
              <a:t>Club career: Sporting CP → Manchester United → Real Madrid → Juventus → Man Utd → Al Nassr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0D1A"/>
        </a:solidFill>
      </p:bgPr>
    </p:bg>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CE1126"/>
          </a:solidFill>
          <a:ln w="12700">
            <a:solidFill>
              <a:srgbClr val="CE1126"/>
            </a:solidFill>
            <a:prstDash val="solid"/>
          </a:ln>
        </p:spPr>
      </p:sp>
      <p:sp>
        <p:nvSpPr>
          <p:cNvPr id="3" name="Text 1"/>
          <p:cNvSpPr/>
          <p:nvPr/>
        </p:nvSpPr>
        <p:spPr>
          <a:xfrm>
            <a:off x="365760" y="0"/>
            <a:ext cx="9144000" cy="658368"/>
          </a:xfrm>
          <a:prstGeom prst="rect">
            <a:avLst/>
          </a:prstGeom>
          <a:noFill/>
          <a:ln/>
        </p:spPr>
        <p:txBody>
          <a:bodyPr wrap="square" rtlCol="0" anchor="ctr"/>
          <a:lstStyle/>
          <a:p>
            <a:pPr indent="0" marL="0">
              <a:buNone/>
            </a:pPr>
            <a:r>
              <a:rPr lang="en-US" sz="2000" b="1" dirty="0">
                <a:solidFill>
                  <a:srgbClr val="FFFFFF"/>
                </a:solidFill>
              </a:rPr>
              <a:t>CHART 1 — Goals &amp; Caps Per Year</a:t>
            </a:r>
            <a:endParaRPr lang="en-US" sz="2000" dirty="0"/>
          </a:p>
        </p:txBody>
      </p:sp>
      <p:sp>
        <p:nvSpPr>
          <p:cNvPr id="4" name="Text 2"/>
          <p:cNvSpPr/>
          <p:nvPr/>
        </p:nvSpPr>
        <p:spPr>
          <a:xfrm>
            <a:off x="9875520" y="0"/>
            <a:ext cx="2011680" cy="658368"/>
          </a:xfrm>
          <a:prstGeom prst="rect">
            <a:avLst/>
          </a:prstGeom>
          <a:noFill/>
          <a:ln/>
        </p:spPr>
        <p:txBody>
          <a:bodyPr wrap="square" rtlCol="0" anchor="ctr"/>
          <a:lstStyle/>
          <a:p>
            <a:pPr algn="r" indent="0" marL="0">
              <a:buNone/>
            </a:pPr>
            <a:r>
              <a:rPr lang="en-US" sz="1300" dirty="0">
                <a:solidFill>
                  <a:srgbClr val="F5C518"/>
                </a:solidFill>
              </a:rPr>
              <a:t>2003 – 2023</a:t>
            </a:r>
            <a:endParaRPr lang="en-US" sz="1300" dirty="0"/>
          </a:p>
        </p:txBody>
      </p:sp>
      <p:pic>
        <p:nvPicPr>
          <p:cNvPr id="5" name="Image 0" descr="/home/claude/charts_cr7/goals_caps_per_year.png">    </p:cNvPr>
          <p:cNvPicPr>
            <a:picLocks noChangeAspect="1"/>
          </p:cNvPicPr>
          <p:nvPr/>
        </p:nvPicPr>
        <p:blipFill>
          <a:blip r:embed="rId1"/>
          <a:stretch>
            <a:fillRect/>
          </a:stretch>
        </p:blipFill>
        <p:spPr>
          <a:xfrm>
            <a:off x="274320" y="777240"/>
            <a:ext cx="11612880" cy="5029200"/>
          </a:xfrm>
          <a:prstGeom prst="rect">
            <a:avLst/>
          </a:prstGeom>
        </p:spPr>
      </p:pic>
      <p:sp>
        <p:nvSpPr>
          <p:cNvPr id="6" name="Text 3"/>
          <p:cNvSpPr/>
          <p:nvPr/>
        </p:nvSpPr>
        <p:spPr>
          <a:xfrm>
            <a:off x="365760" y="5943600"/>
            <a:ext cx="1280160" cy="548640"/>
          </a:xfrm>
          <a:prstGeom prst="rect">
            <a:avLst/>
          </a:prstGeom>
          <a:noFill/>
          <a:ln/>
        </p:spPr>
        <p:txBody>
          <a:bodyPr wrap="square" rtlCol="0" anchor="ctr"/>
          <a:lstStyle/>
          <a:p>
            <a:pPr indent="0" marL="0">
              <a:buNone/>
            </a:pPr>
            <a:r>
              <a:rPr lang="en-US" sz="1100" b="1" dirty="0">
                <a:solidFill>
                  <a:srgbClr val="F5C518"/>
                </a:solidFill>
              </a:rPr>
              <a:t>Key Insight:</a:t>
            </a:r>
            <a:endParaRPr lang="en-US" sz="1100" dirty="0"/>
          </a:p>
        </p:txBody>
      </p:sp>
      <p:sp>
        <p:nvSpPr>
          <p:cNvPr id="7" name="Text 4"/>
          <p:cNvSpPr/>
          <p:nvPr/>
        </p:nvSpPr>
        <p:spPr>
          <a:xfrm>
            <a:off x="1600200" y="5943600"/>
            <a:ext cx="10058400" cy="548640"/>
          </a:xfrm>
          <a:prstGeom prst="rect">
            <a:avLst/>
          </a:prstGeom>
          <a:noFill/>
          <a:ln/>
        </p:spPr>
        <p:txBody>
          <a:bodyPr wrap="square" rtlCol="0" anchor="ctr"/>
          <a:lstStyle/>
          <a:p>
            <a:pPr indent="0" marL="0">
              <a:buNone/>
            </a:pPr>
            <a:r>
              <a:rPr lang="en-US" sz="1100" dirty="0">
                <a:solidFill>
                  <a:srgbClr val="9099AA"/>
                </a:solidFill>
              </a:rPr>
              <a:t>Peak scoring years: 2012 &amp; 2016–2017. Caps peak at Euro/WC qualifying cycles.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0D1A"/>
        </a:solidFill>
      </p:bgPr>
    </p:bg>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161628"/>
          </a:solidFill>
          <a:ln w="12700">
            <a:solidFill>
              <a:srgbClr val="161628"/>
            </a:solidFill>
            <a:prstDash val="solid"/>
          </a:ln>
        </p:spPr>
      </p:sp>
      <p:sp>
        <p:nvSpPr>
          <p:cNvPr id="3" name="Shape 1"/>
          <p:cNvSpPr/>
          <p:nvPr/>
        </p:nvSpPr>
        <p:spPr>
          <a:xfrm>
            <a:off x="0" y="0"/>
            <a:ext cx="164592" cy="658368"/>
          </a:xfrm>
          <a:prstGeom prst="rect">
            <a:avLst/>
          </a:prstGeom>
          <a:solidFill>
            <a:srgbClr val="CE1126"/>
          </a:solidFill>
          <a:ln w="12700">
            <a:solidFill>
              <a:srgbClr val="CE1126"/>
            </a:solidFill>
            <a:prstDash val="solid"/>
          </a:ln>
        </p:spPr>
      </p:sp>
      <p:sp>
        <p:nvSpPr>
          <p:cNvPr id="4" name="Text 2"/>
          <p:cNvSpPr/>
          <p:nvPr/>
        </p:nvSpPr>
        <p:spPr>
          <a:xfrm>
            <a:off x="411480" y="0"/>
            <a:ext cx="9144000" cy="658368"/>
          </a:xfrm>
          <a:prstGeom prst="rect">
            <a:avLst/>
          </a:prstGeom>
          <a:noFill/>
          <a:ln/>
        </p:spPr>
        <p:txBody>
          <a:bodyPr wrap="square" rtlCol="0" anchor="ctr"/>
          <a:lstStyle/>
          <a:p>
            <a:pPr indent="0" marL="0">
              <a:buNone/>
            </a:pPr>
            <a:r>
              <a:rPr lang="en-US" sz="2000" b="1" dirty="0">
                <a:solidFill>
                  <a:srgbClr val="FFFFFF"/>
                </a:solidFill>
              </a:rPr>
              <a:t>CHART 2 — Goals by Competition</a:t>
            </a:r>
            <a:endParaRPr lang="en-US" sz="2000" dirty="0"/>
          </a:p>
        </p:txBody>
      </p:sp>
      <p:sp>
        <p:nvSpPr>
          <p:cNvPr id="5" name="Text 3"/>
          <p:cNvSpPr/>
          <p:nvPr/>
        </p:nvSpPr>
        <p:spPr>
          <a:xfrm>
            <a:off x="9875520" y="0"/>
            <a:ext cx="2011680" cy="658368"/>
          </a:xfrm>
          <a:prstGeom prst="rect">
            <a:avLst/>
          </a:prstGeom>
          <a:noFill/>
          <a:ln/>
        </p:spPr>
        <p:txBody>
          <a:bodyPr wrap="square" rtlCol="0" anchor="ctr"/>
          <a:lstStyle/>
          <a:p>
            <a:pPr algn="r" indent="0" marL="0">
              <a:buNone/>
            </a:pPr>
            <a:r>
              <a:rPr lang="en-US" sz="1300" dirty="0">
                <a:solidFill>
                  <a:srgbClr val="F5C518"/>
                </a:solidFill>
              </a:rPr>
              <a:t>Portugal Career</a:t>
            </a:r>
            <a:endParaRPr lang="en-US" sz="1300" dirty="0"/>
          </a:p>
        </p:txBody>
      </p:sp>
      <p:pic>
        <p:nvPicPr>
          <p:cNvPr id="6" name="Image 0" descr="/home/claude/charts_cr7/goals_by_competition.png">    </p:cNvPr>
          <p:cNvPicPr>
            <a:picLocks noChangeAspect="1"/>
          </p:cNvPicPr>
          <p:nvPr/>
        </p:nvPicPr>
        <p:blipFill>
          <a:blip r:embed="rId1"/>
          <a:stretch>
            <a:fillRect/>
          </a:stretch>
        </p:blipFill>
        <p:spPr>
          <a:xfrm>
            <a:off x="274320" y="777240"/>
            <a:ext cx="11612880" cy="5029200"/>
          </a:xfrm>
          <a:prstGeom prst="rect">
            <a:avLst/>
          </a:prstGeom>
        </p:spPr>
      </p:pic>
      <p:sp>
        <p:nvSpPr>
          <p:cNvPr id="7" name="Text 4"/>
          <p:cNvSpPr/>
          <p:nvPr/>
        </p:nvSpPr>
        <p:spPr>
          <a:xfrm>
            <a:off x="365760" y="5943600"/>
            <a:ext cx="1280160" cy="548640"/>
          </a:xfrm>
          <a:prstGeom prst="rect">
            <a:avLst/>
          </a:prstGeom>
          <a:noFill/>
          <a:ln/>
        </p:spPr>
        <p:txBody>
          <a:bodyPr wrap="square" rtlCol="0" anchor="ctr"/>
          <a:lstStyle/>
          <a:p>
            <a:pPr indent="0" marL="0">
              <a:buNone/>
            </a:pPr>
            <a:r>
              <a:rPr lang="en-US" sz="1100" b="1" dirty="0">
                <a:solidFill>
                  <a:srgbClr val="F5C518"/>
                </a:solidFill>
              </a:rPr>
              <a:t>Key Insight:</a:t>
            </a:r>
            <a:endParaRPr lang="en-US" sz="1100" dirty="0"/>
          </a:p>
        </p:txBody>
      </p:sp>
      <p:sp>
        <p:nvSpPr>
          <p:cNvPr id="8" name="Text 5"/>
          <p:cNvSpPr/>
          <p:nvPr/>
        </p:nvSpPr>
        <p:spPr>
          <a:xfrm>
            <a:off x="1600200" y="5943600"/>
            <a:ext cx="10058400" cy="548640"/>
          </a:xfrm>
          <a:prstGeom prst="rect">
            <a:avLst/>
          </a:prstGeom>
          <a:noFill/>
          <a:ln/>
        </p:spPr>
        <p:txBody>
          <a:bodyPr wrap="square" rtlCol="0" anchor="ctr"/>
          <a:lstStyle/>
          <a:p>
            <a:pPr indent="0" marL="0">
              <a:buNone/>
            </a:pPr>
            <a:r>
              <a:rPr lang="en-US" sz="1100" dirty="0">
                <a:solidFill>
                  <a:srgbClr val="9099AA"/>
                </a:solidFill>
              </a:rPr>
              <a:t>Qualifiers (World Cup + Euro) account for 45% of total international goals — Ronaldo raises his game when it matters.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0D1A"/>
        </a:solidFill>
      </p:bgPr>
    </p:bg>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CE1126"/>
          </a:solidFill>
          <a:ln w="12700">
            <a:solidFill>
              <a:srgbClr val="CE1126"/>
            </a:solidFill>
            <a:prstDash val="solid"/>
          </a:ln>
        </p:spPr>
      </p:sp>
      <p:sp>
        <p:nvSpPr>
          <p:cNvPr id="3" name="Text 1"/>
          <p:cNvSpPr/>
          <p:nvPr/>
        </p:nvSpPr>
        <p:spPr>
          <a:xfrm>
            <a:off x="365760" y="0"/>
            <a:ext cx="9144000" cy="658368"/>
          </a:xfrm>
          <a:prstGeom prst="rect">
            <a:avLst/>
          </a:prstGeom>
          <a:noFill/>
          <a:ln/>
        </p:spPr>
        <p:txBody>
          <a:bodyPr wrap="square" rtlCol="0" anchor="ctr"/>
          <a:lstStyle/>
          <a:p>
            <a:pPr indent="0" marL="0">
              <a:buNone/>
            </a:pPr>
            <a:r>
              <a:rPr lang="en-US" sz="2000" b="1" dirty="0">
                <a:solidFill>
                  <a:srgbClr val="FFFFFF"/>
                </a:solidFill>
              </a:rPr>
              <a:t>CHART 3 — Goals vs Key Opponents</a:t>
            </a:r>
            <a:endParaRPr lang="en-US" sz="2000" dirty="0"/>
          </a:p>
        </p:txBody>
      </p:sp>
      <p:sp>
        <p:nvSpPr>
          <p:cNvPr id="4" name="Text 2"/>
          <p:cNvSpPr/>
          <p:nvPr/>
        </p:nvSpPr>
        <p:spPr>
          <a:xfrm>
            <a:off x="9875520" y="0"/>
            <a:ext cx="2011680" cy="658368"/>
          </a:xfrm>
          <a:prstGeom prst="rect">
            <a:avLst/>
          </a:prstGeom>
          <a:noFill/>
          <a:ln/>
        </p:spPr>
        <p:txBody>
          <a:bodyPr wrap="square" rtlCol="0" anchor="ctr"/>
          <a:lstStyle/>
          <a:p>
            <a:pPr algn="r" indent="0" marL="0">
              <a:buNone/>
            </a:pPr>
            <a:r>
              <a:rPr lang="en-US" sz="1300" dirty="0">
                <a:solidFill>
                  <a:srgbClr val="F5C518"/>
                </a:solidFill>
              </a:rPr>
              <a:t>Selected Matchups</a:t>
            </a:r>
            <a:endParaRPr lang="en-US" sz="1300" dirty="0"/>
          </a:p>
        </p:txBody>
      </p:sp>
      <p:pic>
        <p:nvPicPr>
          <p:cNvPr id="5" name="Image 0" descr="/home/claude/charts_cr7/goals_vs_opponents.png">    </p:cNvPr>
          <p:cNvPicPr>
            <a:picLocks noChangeAspect="1"/>
          </p:cNvPicPr>
          <p:nvPr/>
        </p:nvPicPr>
        <p:blipFill>
          <a:blip r:embed="rId1"/>
          <a:stretch>
            <a:fillRect/>
          </a:stretch>
        </p:blipFill>
        <p:spPr>
          <a:xfrm>
            <a:off x="274320" y="777240"/>
            <a:ext cx="11612880" cy="5029200"/>
          </a:xfrm>
          <a:prstGeom prst="rect">
            <a:avLst/>
          </a:prstGeom>
        </p:spPr>
      </p:pic>
      <p:sp>
        <p:nvSpPr>
          <p:cNvPr id="6" name="Text 3"/>
          <p:cNvSpPr/>
          <p:nvPr/>
        </p:nvSpPr>
        <p:spPr>
          <a:xfrm>
            <a:off x="365760" y="5943600"/>
            <a:ext cx="1280160" cy="548640"/>
          </a:xfrm>
          <a:prstGeom prst="rect">
            <a:avLst/>
          </a:prstGeom>
          <a:noFill/>
          <a:ln/>
        </p:spPr>
        <p:txBody>
          <a:bodyPr wrap="square" rtlCol="0" anchor="ctr"/>
          <a:lstStyle/>
          <a:p>
            <a:pPr indent="0" marL="0">
              <a:buNone/>
            </a:pPr>
            <a:r>
              <a:rPr lang="en-US" sz="1100" b="1" dirty="0">
                <a:solidFill>
                  <a:srgbClr val="F5C518"/>
                </a:solidFill>
              </a:rPr>
              <a:t>Key Insight:</a:t>
            </a:r>
            <a:endParaRPr lang="en-US" sz="1100" dirty="0"/>
          </a:p>
        </p:txBody>
      </p:sp>
      <p:sp>
        <p:nvSpPr>
          <p:cNvPr id="7" name="Text 4"/>
          <p:cNvSpPr/>
          <p:nvPr/>
        </p:nvSpPr>
        <p:spPr>
          <a:xfrm>
            <a:off x="1600200" y="5943600"/>
            <a:ext cx="10058400" cy="548640"/>
          </a:xfrm>
          <a:prstGeom prst="rect">
            <a:avLst/>
          </a:prstGeom>
          <a:noFill/>
          <a:ln/>
        </p:spPr>
        <p:txBody>
          <a:bodyPr wrap="square" rtlCol="0" anchor="ctr"/>
          <a:lstStyle/>
          <a:p>
            <a:pPr indent="0" marL="0">
              <a:buNone/>
            </a:pPr>
            <a:r>
              <a:rPr lang="en-US" sz="1100" dirty="0">
                <a:solidFill>
                  <a:srgbClr val="9099AA"/>
                </a:solidFill>
              </a:rPr>
              <a:t>Strongest showings against Andorra (8) and Luxembourg (6). Even vs powerhouse Spain, CR7 scored 4 times.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0D1A"/>
        </a:solidFill>
      </p:bgPr>
    </p:bg>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161628"/>
          </a:solidFill>
          <a:ln w="12700">
            <a:solidFill>
              <a:srgbClr val="161628"/>
            </a:solidFill>
            <a:prstDash val="solid"/>
          </a:ln>
        </p:spPr>
      </p:sp>
      <p:sp>
        <p:nvSpPr>
          <p:cNvPr id="3" name="Shape 1"/>
          <p:cNvSpPr/>
          <p:nvPr/>
        </p:nvSpPr>
        <p:spPr>
          <a:xfrm>
            <a:off x="0" y="0"/>
            <a:ext cx="164592" cy="658368"/>
          </a:xfrm>
          <a:prstGeom prst="rect">
            <a:avLst/>
          </a:prstGeom>
          <a:solidFill>
            <a:srgbClr val="CE1126"/>
          </a:solidFill>
          <a:ln w="12700">
            <a:solidFill>
              <a:srgbClr val="CE1126"/>
            </a:solidFill>
            <a:prstDash val="solid"/>
          </a:ln>
        </p:spPr>
      </p:sp>
      <p:sp>
        <p:nvSpPr>
          <p:cNvPr id="4" name="Text 2"/>
          <p:cNvSpPr/>
          <p:nvPr/>
        </p:nvSpPr>
        <p:spPr>
          <a:xfrm>
            <a:off x="411480" y="0"/>
            <a:ext cx="9144000" cy="658368"/>
          </a:xfrm>
          <a:prstGeom prst="rect">
            <a:avLst/>
          </a:prstGeom>
          <a:noFill/>
          <a:ln/>
        </p:spPr>
        <p:txBody>
          <a:bodyPr wrap="square" rtlCol="0" anchor="ctr"/>
          <a:lstStyle/>
          <a:p>
            <a:pPr indent="0" marL="0">
              <a:buNone/>
            </a:pPr>
            <a:r>
              <a:rPr lang="en-US" sz="2000" b="1" dirty="0">
                <a:solidFill>
                  <a:srgbClr val="FFFFFF"/>
                </a:solidFill>
              </a:rPr>
              <a:t>CHART 4 — Home / Away / Neutral Goals</a:t>
            </a:r>
            <a:endParaRPr lang="en-US" sz="2000" dirty="0"/>
          </a:p>
        </p:txBody>
      </p:sp>
      <p:pic>
        <p:nvPicPr>
          <p:cNvPr id="5" name="Image 0" descr="/home/claude/charts_cr7/home_away_neutral.png">    </p:cNvPr>
          <p:cNvPicPr>
            <a:picLocks noChangeAspect="1"/>
          </p:cNvPicPr>
          <p:nvPr/>
        </p:nvPicPr>
        <p:blipFill>
          <a:blip r:embed="rId1"/>
          <a:stretch>
            <a:fillRect/>
          </a:stretch>
        </p:blipFill>
        <p:spPr>
          <a:xfrm>
            <a:off x="1828800" y="777240"/>
            <a:ext cx="8686800" cy="4983480"/>
          </a:xfrm>
          <a:prstGeom prst="rect">
            <a:avLst/>
          </a:prstGeom>
        </p:spPr>
      </p:pic>
      <p:sp>
        <p:nvSpPr>
          <p:cNvPr id="6" name="Shape 3"/>
          <p:cNvSpPr/>
          <p:nvPr/>
        </p:nvSpPr>
        <p:spPr>
          <a:xfrm>
            <a:off x="228600" y="1371600"/>
            <a:ext cx="1463040" cy="1188720"/>
          </a:xfrm>
          <a:prstGeom prst="rect">
            <a:avLst/>
          </a:prstGeom>
          <a:solidFill>
            <a:srgbClr val="161628"/>
          </a:solidFill>
          <a:ln w="12700">
            <a:solidFill>
              <a:srgbClr val="CE1126"/>
            </a:solidFill>
            <a:prstDash val="solid"/>
          </a:ln>
        </p:spPr>
      </p:sp>
      <p:sp>
        <p:nvSpPr>
          <p:cNvPr id="7" name="Text 4"/>
          <p:cNvSpPr/>
          <p:nvPr/>
        </p:nvSpPr>
        <p:spPr>
          <a:xfrm>
            <a:off x="228600" y="1417320"/>
            <a:ext cx="1463040" cy="594360"/>
          </a:xfrm>
          <a:prstGeom prst="rect">
            <a:avLst/>
          </a:prstGeom>
          <a:noFill/>
          <a:ln/>
        </p:spPr>
        <p:txBody>
          <a:bodyPr wrap="square" rtlCol="0" anchor="ctr"/>
          <a:lstStyle/>
          <a:p>
            <a:pPr algn="ctr" indent="0" marL="0">
              <a:buNone/>
            </a:pPr>
            <a:r>
              <a:rPr lang="en-US" sz="2000" b="1" dirty="0">
                <a:solidFill>
                  <a:srgbClr val="CE1126"/>
                </a:solidFill>
              </a:rPr>
              <a:t>51.8%</a:t>
            </a:r>
            <a:endParaRPr lang="en-US" sz="2000" dirty="0"/>
          </a:p>
        </p:txBody>
      </p:sp>
      <p:sp>
        <p:nvSpPr>
          <p:cNvPr id="8" name="Text 5"/>
          <p:cNvSpPr/>
          <p:nvPr/>
        </p:nvSpPr>
        <p:spPr>
          <a:xfrm>
            <a:off x="228600" y="1938528"/>
            <a:ext cx="1463040" cy="502920"/>
          </a:xfrm>
          <a:prstGeom prst="rect">
            <a:avLst/>
          </a:prstGeom>
          <a:noFill/>
          <a:ln/>
        </p:spPr>
        <p:txBody>
          <a:bodyPr wrap="square" rtlCol="0" anchor="ctr"/>
          <a:lstStyle/>
          <a:p>
            <a:pPr algn="ctr" indent="0" marL="0">
              <a:buNone/>
            </a:pPr>
            <a:r>
              <a:rPr lang="en-US" sz="1000" dirty="0">
                <a:solidFill>
                  <a:srgbClr val="9099AA"/>
                </a:solidFill>
              </a:rPr>
              <a:t>Home Goals</a:t>
            </a:r>
            <a:endParaRPr lang="en-US" sz="1000" dirty="0"/>
          </a:p>
        </p:txBody>
      </p:sp>
      <p:sp>
        <p:nvSpPr>
          <p:cNvPr id="9" name="Shape 6"/>
          <p:cNvSpPr/>
          <p:nvPr/>
        </p:nvSpPr>
        <p:spPr>
          <a:xfrm>
            <a:off x="228600" y="2834640"/>
            <a:ext cx="1463040" cy="1188720"/>
          </a:xfrm>
          <a:prstGeom prst="rect">
            <a:avLst/>
          </a:prstGeom>
          <a:solidFill>
            <a:srgbClr val="161628"/>
          </a:solidFill>
          <a:ln w="12700">
            <a:solidFill>
              <a:srgbClr val="CE1126"/>
            </a:solidFill>
            <a:prstDash val="solid"/>
          </a:ln>
        </p:spPr>
      </p:sp>
      <p:sp>
        <p:nvSpPr>
          <p:cNvPr id="10" name="Text 7"/>
          <p:cNvSpPr/>
          <p:nvPr/>
        </p:nvSpPr>
        <p:spPr>
          <a:xfrm>
            <a:off x="228600" y="2880360"/>
            <a:ext cx="1463040" cy="594360"/>
          </a:xfrm>
          <a:prstGeom prst="rect">
            <a:avLst/>
          </a:prstGeom>
          <a:noFill/>
          <a:ln/>
        </p:spPr>
        <p:txBody>
          <a:bodyPr wrap="square" rtlCol="0" anchor="ctr"/>
          <a:lstStyle/>
          <a:p>
            <a:pPr algn="ctr" indent="0" marL="0">
              <a:buNone/>
            </a:pPr>
            <a:r>
              <a:rPr lang="en-US" sz="2000" b="1" dirty="0">
                <a:solidFill>
                  <a:srgbClr val="CE1126"/>
                </a:solidFill>
              </a:rPr>
              <a:t>41.4%</a:t>
            </a:r>
            <a:endParaRPr lang="en-US" sz="2000" dirty="0"/>
          </a:p>
        </p:txBody>
      </p:sp>
      <p:sp>
        <p:nvSpPr>
          <p:cNvPr id="11" name="Text 8"/>
          <p:cNvSpPr/>
          <p:nvPr/>
        </p:nvSpPr>
        <p:spPr>
          <a:xfrm>
            <a:off x="228600" y="3401568"/>
            <a:ext cx="1463040" cy="502920"/>
          </a:xfrm>
          <a:prstGeom prst="rect">
            <a:avLst/>
          </a:prstGeom>
          <a:noFill/>
          <a:ln/>
        </p:spPr>
        <p:txBody>
          <a:bodyPr wrap="square" rtlCol="0" anchor="ctr"/>
          <a:lstStyle/>
          <a:p>
            <a:pPr algn="ctr" indent="0" marL="0">
              <a:buNone/>
            </a:pPr>
            <a:r>
              <a:rPr lang="en-US" sz="1000" dirty="0">
                <a:solidFill>
                  <a:srgbClr val="9099AA"/>
                </a:solidFill>
              </a:rPr>
              <a:t>Away Goals</a:t>
            </a:r>
            <a:endParaRPr lang="en-US" sz="1000" dirty="0"/>
          </a:p>
        </p:txBody>
      </p:sp>
      <p:sp>
        <p:nvSpPr>
          <p:cNvPr id="12" name="Shape 9"/>
          <p:cNvSpPr/>
          <p:nvPr/>
        </p:nvSpPr>
        <p:spPr>
          <a:xfrm>
            <a:off x="228600" y="4297680"/>
            <a:ext cx="1463040" cy="1188720"/>
          </a:xfrm>
          <a:prstGeom prst="rect">
            <a:avLst/>
          </a:prstGeom>
          <a:solidFill>
            <a:srgbClr val="161628"/>
          </a:solidFill>
          <a:ln w="12700">
            <a:solidFill>
              <a:srgbClr val="CE1126"/>
            </a:solidFill>
            <a:prstDash val="solid"/>
          </a:ln>
        </p:spPr>
      </p:sp>
      <p:sp>
        <p:nvSpPr>
          <p:cNvPr id="13" name="Text 10"/>
          <p:cNvSpPr/>
          <p:nvPr/>
        </p:nvSpPr>
        <p:spPr>
          <a:xfrm>
            <a:off x="228600" y="4343400"/>
            <a:ext cx="1463040" cy="594360"/>
          </a:xfrm>
          <a:prstGeom prst="rect">
            <a:avLst/>
          </a:prstGeom>
          <a:noFill/>
          <a:ln/>
        </p:spPr>
        <p:txBody>
          <a:bodyPr wrap="square" rtlCol="0" anchor="ctr"/>
          <a:lstStyle/>
          <a:p>
            <a:pPr algn="ctr" indent="0" marL="0">
              <a:buNone/>
            </a:pPr>
            <a:r>
              <a:rPr lang="en-US" sz="2000" b="1" dirty="0">
                <a:solidFill>
                  <a:srgbClr val="CE1126"/>
                </a:solidFill>
              </a:rPr>
              <a:t>6.8%</a:t>
            </a:r>
            <a:endParaRPr lang="en-US" sz="2000" dirty="0"/>
          </a:p>
        </p:txBody>
      </p:sp>
      <p:sp>
        <p:nvSpPr>
          <p:cNvPr id="14" name="Text 11"/>
          <p:cNvSpPr/>
          <p:nvPr/>
        </p:nvSpPr>
        <p:spPr>
          <a:xfrm>
            <a:off x="228600" y="4864608"/>
            <a:ext cx="1463040" cy="502920"/>
          </a:xfrm>
          <a:prstGeom prst="rect">
            <a:avLst/>
          </a:prstGeom>
          <a:noFill/>
          <a:ln/>
        </p:spPr>
        <p:txBody>
          <a:bodyPr wrap="square" rtlCol="0" anchor="ctr"/>
          <a:lstStyle/>
          <a:p>
            <a:pPr algn="ctr" indent="0" marL="0">
              <a:buNone/>
            </a:pPr>
            <a:r>
              <a:rPr lang="en-US" sz="1000" dirty="0">
                <a:solidFill>
                  <a:srgbClr val="9099AA"/>
                </a:solidFill>
              </a:rPr>
              <a:t>Neutral</a:t>
            </a:r>
            <a:endParaRPr lang="en-US" sz="1000" dirty="0"/>
          </a:p>
        </p:txBody>
      </p:sp>
      <p:sp>
        <p:nvSpPr>
          <p:cNvPr id="15" name="Text 12"/>
          <p:cNvSpPr/>
          <p:nvPr/>
        </p:nvSpPr>
        <p:spPr>
          <a:xfrm>
            <a:off x="365760" y="5943600"/>
            <a:ext cx="1280160" cy="548640"/>
          </a:xfrm>
          <a:prstGeom prst="rect">
            <a:avLst/>
          </a:prstGeom>
          <a:noFill/>
          <a:ln/>
        </p:spPr>
        <p:txBody>
          <a:bodyPr wrap="square" rtlCol="0" anchor="ctr"/>
          <a:lstStyle/>
          <a:p>
            <a:pPr indent="0" marL="0">
              <a:buNone/>
            </a:pPr>
            <a:r>
              <a:rPr lang="en-US" sz="1100" b="1" dirty="0">
                <a:solidFill>
                  <a:srgbClr val="F5C518"/>
                </a:solidFill>
              </a:rPr>
              <a:t>Key Insight:</a:t>
            </a:r>
            <a:endParaRPr lang="en-US" sz="1100" dirty="0"/>
          </a:p>
        </p:txBody>
      </p:sp>
      <p:sp>
        <p:nvSpPr>
          <p:cNvPr id="16" name="Text 13"/>
          <p:cNvSpPr/>
          <p:nvPr/>
        </p:nvSpPr>
        <p:spPr>
          <a:xfrm>
            <a:off x="1600200" y="5943600"/>
            <a:ext cx="10058400" cy="548640"/>
          </a:xfrm>
          <a:prstGeom prst="rect">
            <a:avLst/>
          </a:prstGeom>
          <a:noFill/>
          <a:ln/>
        </p:spPr>
        <p:txBody>
          <a:bodyPr wrap="square" rtlCol="0" anchor="ctr"/>
          <a:lstStyle/>
          <a:p>
            <a:pPr indent="0" marL="0">
              <a:buNone/>
            </a:pPr>
            <a:r>
              <a:rPr lang="en-US" sz="1100" dirty="0">
                <a:solidFill>
                  <a:srgbClr val="9099AA"/>
                </a:solidFill>
              </a:rPr>
              <a:t>Strong home advantage, yet CR7 maintains 41% efficiency on the road — a mark of true class.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0D1A"/>
        </a:solidFill>
      </p:bgPr>
    </p:bg>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CE1126"/>
          </a:solidFill>
          <a:ln w="12700">
            <a:solidFill>
              <a:srgbClr val="CE1126"/>
            </a:solidFill>
            <a:prstDash val="solid"/>
          </a:ln>
        </p:spPr>
      </p:sp>
      <p:sp>
        <p:nvSpPr>
          <p:cNvPr id="3" name="Text 1"/>
          <p:cNvSpPr/>
          <p:nvPr/>
        </p:nvSpPr>
        <p:spPr>
          <a:xfrm>
            <a:off x="365760" y="0"/>
            <a:ext cx="10058400" cy="658368"/>
          </a:xfrm>
          <a:prstGeom prst="rect">
            <a:avLst/>
          </a:prstGeom>
          <a:noFill/>
          <a:ln/>
        </p:spPr>
        <p:txBody>
          <a:bodyPr wrap="square" rtlCol="0" anchor="ctr"/>
          <a:lstStyle/>
          <a:p>
            <a:pPr indent="0" marL="0">
              <a:buNone/>
            </a:pPr>
            <a:r>
              <a:rPr lang="en-US" sz="2000" b="1" dirty="0">
                <a:solidFill>
                  <a:srgbClr val="FFFFFF"/>
                </a:solidFill>
              </a:rPr>
              <a:t>CHART 5 — Scoring Efficiency Trend (Goals per Cap)</a:t>
            </a:r>
            <a:endParaRPr lang="en-US" sz="2000" dirty="0"/>
          </a:p>
        </p:txBody>
      </p:sp>
      <p:pic>
        <p:nvPicPr>
          <p:cNvPr id="4" name="Image 0" descr="/home/claude/charts_cr7/goals_per_cap.png">    </p:cNvPr>
          <p:cNvPicPr>
            <a:picLocks noChangeAspect="1"/>
          </p:cNvPicPr>
          <p:nvPr/>
        </p:nvPicPr>
        <p:blipFill>
          <a:blip r:embed="rId1"/>
          <a:stretch>
            <a:fillRect/>
          </a:stretch>
        </p:blipFill>
        <p:spPr>
          <a:xfrm>
            <a:off x="274320" y="777240"/>
            <a:ext cx="11612880" cy="5029200"/>
          </a:xfrm>
          <a:prstGeom prst="rect">
            <a:avLst/>
          </a:prstGeom>
        </p:spPr>
      </p:pic>
      <p:sp>
        <p:nvSpPr>
          <p:cNvPr id="5" name="Text 2"/>
          <p:cNvSpPr/>
          <p:nvPr/>
        </p:nvSpPr>
        <p:spPr>
          <a:xfrm>
            <a:off x="365760" y="5943600"/>
            <a:ext cx="1280160" cy="548640"/>
          </a:xfrm>
          <a:prstGeom prst="rect">
            <a:avLst/>
          </a:prstGeom>
          <a:noFill/>
          <a:ln/>
        </p:spPr>
        <p:txBody>
          <a:bodyPr wrap="square" rtlCol="0" anchor="ctr"/>
          <a:lstStyle/>
          <a:p>
            <a:pPr indent="0" marL="0">
              <a:buNone/>
            </a:pPr>
            <a:r>
              <a:rPr lang="en-US" sz="1100" b="1" dirty="0">
                <a:solidFill>
                  <a:srgbClr val="F5C518"/>
                </a:solidFill>
              </a:rPr>
              <a:t>Key Insight:</a:t>
            </a:r>
            <a:endParaRPr lang="en-US" sz="1100" dirty="0"/>
          </a:p>
        </p:txBody>
      </p:sp>
      <p:sp>
        <p:nvSpPr>
          <p:cNvPr id="6" name="Text 3"/>
          <p:cNvSpPr/>
          <p:nvPr/>
        </p:nvSpPr>
        <p:spPr>
          <a:xfrm>
            <a:off x="1600200" y="5943600"/>
            <a:ext cx="10058400" cy="548640"/>
          </a:xfrm>
          <a:prstGeom prst="rect">
            <a:avLst/>
          </a:prstGeom>
          <a:noFill/>
          <a:ln/>
        </p:spPr>
        <p:txBody>
          <a:bodyPr wrap="square" rtlCol="0" anchor="ctr"/>
          <a:lstStyle/>
          <a:p>
            <a:pPr indent="0" marL="0">
              <a:buNone/>
            </a:pPr>
            <a:r>
              <a:rPr lang="en-US" sz="1100" dirty="0">
                <a:solidFill>
                  <a:srgbClr val="9099AA"/>
                </a:solidFill>
              </a:rPr>
              <a:t>Rolling average shows a consistent climb from 2009 onwards, proving CR7 became more efficient as he matured.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0D1A"/>
        </a:solidFill>
      </p:bgPr>
    </p:bg>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161628"/>
          </a:solidFill>
          <a:ln w="12700">
            <a:solidFill>
              <a:srgbClr val="161628"/>
            </a:solidFill>
            <a:prstDash val="solid"/>
          </a:ln>
        </p:spPr>
      </p:sp>
      <p:sp>
        <p:nvSpPr>
          <p:cNvPr id="3" name="Shape 1"/>
          <p:cNvSpPr/>
          <p:nvPr/>
        </p:nvSpPr>
        <p:spPr>
          <a:xfrm>
            <a:off x="0" y="0"/>
            <a:ext cx="164592" cy="658368"/>
          </a:xfrm>
          <a:prstGeom prst="rect">
            <a:avLst/>
          </a:prstGeom>
          <a:solidFill>
            <a:srgbClr val="CE1126"/>
          </a:solidFill>
          <a:ln w="12700">
            <a:solidFill>
              <a:srgbClr val="CE1126"/>
            </a:solidFill>
            <a:prstDash val="solid"/>
          </a:ln>
        </p:spPr>
      </p:sp>
      <p:sp>
        <p:nvSpPr>
          <p:cNvPr id="4" name="Text 2"/>
          <p:cNvSpPr/>
          <p:nvPr/>
        </p:nvSpPr>
        <p:spPr>
          <a:xfrm>
            <a:off x="411480" y="0"/>
            <a:ext cx="9144000" cy="658368"/>
          </a:xfrm>
          <a:prstGeom prst="rect">
            <a:avLst/>
          </a:prstGeom>
          <a:noFill/>
          <a:ln/>
        </p:spPr>
        <p:txBody>
          <a:bodyPr wrap="square" rtlCol="0" anchor="ctr"/>
          <a:lstStyle/>
          <a:p>
            <a:pPr indent="0" marL="0">
              <a:buNone/>
            </a:pPr>
            <a:r>
              <a:rPr lang="en-US" sz="2000" b="1" dirty="0">
                <a:solidFill>
                  <a:srgbClr val="FFFFFF"/>
                </a:solidFill>
              </a:rPr>
              <a:t>CHART 6 — Attribute Radar Profile</a:t>
            </a:r>
            <a:endParaRPr lang="en-US" sz="2000" dirty="0"/>
          </a:p>
        </p:txBody>
      </p:sp>
      <p:pic>
        <p:nvPicPr>
          <p:cNvPr id="5" name="Image 0" descr="/home/claude/charts_cr7/radar.png">    </p:cNvPr>
          <p:cNvPicPr>
            <a:picLocks noChangeAspect="1"/>
          </p:cNvPicPr>
          <p:nvPr/>
        </p:nvPicPr>
        <p:blipFill>
          <a:blip r:embed="rId1"/>
          <a:stretch>
            <a:fillRect/>
          </a:stretch>
        </p:blipFill>
        <p:spPr>
          <a:xfrm>
            <a:off x="2743200" y="749808"/>
            <a:ext cx="6400800" cy="5486400"/>
          </a:xfrm>
          <a:prstGeom prst="rect">
            <a:avLst/>
          </a:prstGeom>
        </p:spPr>
      </p:pic>
      <p:sp>
        <p:nvSpPr>
          <p:cNvPr id="6" name="Shape 3"/>
          <p:cNvSpPr/>
          <p:nvPr/>
        </p:nvSpPr>
        <p:spPr>
          <a:xfrm>
            <a:off x="182880" y="1188720"/>
            <a:ext cx="1417320" cy="1234440"/>
          </a:xfrm>
          <a:prstGeom prst="rect">
            <a:avLst/>
          </a:prstGeom>
          <a:solidFill>
            <a:srgbClr val="161628"/>
          </a:solidFill>
          <a:ln w="12700">
            <a:solidFill>
              <a:srgbClr val="CE1126"/>
            </a:solidFill>
            <a:prstDash val="solid"/>
          </a:ln>
        </p:spPr>
      </p:sp>
      <p:sp>
        <p:nvSpPr>
          <p:cNvPr id="7" name="Text 4"/>
          <p:cNvSpPr/>
          <p:nvPr/>
        </p:nvSpPr>
        <p:spPr>
          <a:xfrm>
            <a:off x="182880" y="1261872"/>
            <a:ext cx="1417320" cy="594360"/>
          </a:xfrm>
          <a:prstGeom prst="rect">
            <a:avLst/>
          </a:prstGeom>
          <a:noFill/>
          <a:ln/>
        </p:spPr>
        <p:txBody>
          <a:bodyPr wrap="square" rtlCol="0" anchor="ctr"/>
          <a:lstStyle/>
          <a:p>
            <a:pPr algn="ctr" indent="0" marL="0">
              <a:buNone/>
            </a:pPr>
            <a:r>
              <a:rPr lang="en-US" sz="1700" b="1" dirty="0">
                <a:solidFill>
                  <a:srgbClr val="CE1126"/>
                </a:solidFill>
              </a:rPr>
              <a:t>98/100</a:t>
            </a:r>
            <a:endParaRPr lang="en-US" sz="1700" dirty="0"/>
          </a:p>
        </p:txBody>
      </p:sp>
      <p:sp>
        <p:nvSpPr>
          <p:cNvPr id="8" name="Text 5"/>
          <p:cNvSpPr/>
          <p:nvPr/>
        </p:nvSpPr>
        <p:spPr>
          <a:xfrm>
            <a:off x="182880" y="1810512"/>
            <a:ext cx="1417320" cy="502920"/>
          </a:xfrm>
          <a:prstGeom prst="rect">
            <a:avLst/>
          </a:prstGeom>
          <a:noFill/>
          <a:ln/>
        </p:spPr>
        <p:txBody>
          <a:bodyPr wrap="square" rtlCol="0" anchor="ctr"/>
          <a:lstStyle/>
          <a:p>
            <a:pPr algn="ctr" indent="0" marL="0">
              <a:buNone/>
            </a:pPr>
            <a:r>
              <a:rPr lang="en-US" sz="1000" dirty="0">
                <a:solidFill>
                  <a:srgbClr val="9099AA"/>
                </a:solidFill>
              </a:rPr>
              <a:t>Finishing</a:t>
            </a:r>
            <a:endParaRPr lang="en-US" sz="1000" dirty="0"/>
          </a:p>
        </p:txBody>
      </p:sp>
      <p:sp>
        <p:nvSpPr>
          <p:cNvPr id="9" name="Shape 6"/>
          <p:cNvSpPr/>
          <p:nvPr/>
        </p:nvSpPr>
        <p:spPr>
          <a:xfrm>
            <a:off x="182880" y="2651760"/>
            <a:ext cx="1417320" cy="1234440"/>
          </a:xfrm>
          <a:prstGeom prst="rect">
            <a:avLst/>
          </a:prstGeom>
          <a:solidFill>
            <a:srgbClr val="161628"/>
          </a:solidFill>
          <a:ln w="12700">
            <a:solidFill>
              <a:srgbClr val="CE1126"/>
            </a:solidFill>
            <a:prstDash val="solid"/>
          </a:ln>
        </p:spPr>
      </p:sp>
      <p:sp>
        <p:nvSpPr>
          <p:cNvPr id="10" name="Text 7"/>
          <p:cNvSpPr/>
          <p:nvPr/>
        </p:nvSpPr>
        <p:spPr>
          <a:xfrm>
            <a:off x="182880" y="2724912"/>
            <a:ext cx="1417320" cy="594360"/>
          </a:xfrm>
          <a:prstGeom prst="rect">
            <a:avLst/>
          </a:prstGeom>
          <a:noFill/>
          <a:ln/>
        </p:spPr>
        <p:txBody>
          <a:bodyPr wrap="square" rtlCol="0" anchor="ctr"/>
          <a:lstStyle/>
          <a:p>
            <a:pPr algn="ctr" indent="0" marL="0">
              <a:buNone/>
            </a:pPr>
            <a:r>
              <a:rPr lang="en-US" sz="1700" b="1" dirty="0">
                <a:solidFill>
                  <a:srgbClr val="CE1126"/>
                </a:solidFill>
              </a:rPr>
              <a:t>91/100</a:t>
            </a:r>
            <a:endParaRPr lang="en-US" sz="1700" dirty="0"/>
          </a:p>
        </p:txBody>
      </p:sp>
      <p:sp>
        <p:nvSpPr>
          <p:cNvPr id="11" name="Text 8"/>
          <p:cNvSpPr/>
          <p:nvPr/>
        </p:nvSpPr>
        <p:spPr>
          <a:xfrm>
            <a:off x="182880" y="3273552"/>
            <a:ext cx="1417320" cy="502920"/>
          </a:xfrm>
          <a:prstGeom prst="rect">
            <a:avLst/>
          </a:prstGeom>
          <a:noFill/>
          <a:ln/>
        </p:spPr>
        <p:txBody>
          <a:bodyPr wrap="square" rtlCol="0" anchor="ctr"/>
          <a:lstStyle/>
          <a:p>
            <a:pPr algn="ctr" indent="0" marL="0">
              <a:buNone/>
            </a:pPr>
            <a:r>
              <a:rPr lang="en-US" sz="1000" dirty="0">
                <a:solidFill>
                  <a:srgbClr val="9099AA"/>
                </a:solidFill>
              </a:rPr>
              <a:t>Free Kicks</a:t>
            </a:r>
            <a:endParaRPr lang="en-US" sz="1000" dirty="0"/>
          </a:p>
        </p:txBody>
      </p:sp>
      <p:sp>
        <p:nvSpPr>
          <p:cNvPr id="12" name="Shape 9"/>
          <p:cNvSpPr/>
          <p:nvPr/>
        </p:nvSpPr>
        <p:spPr>
          <a:xfrm>
            <a:off x="182880" y="4114800"/>
            <a:ext cx="1417320" cy="1234440"/>
          </a:xfrm>
          <a:prstGeom prst="rect">
            <a:avLst/>
          </a:prstGeom>
          <a:solidFill>
            <a:srgbClr val="161628"/>
          </a:solidFill>
          <a:ln w="12700">
            <a:solidFill>
              <a:srgbClr val="CE1126"/>
            </a:solidFill>
            <a:prstDash val="solid"/>
          </a:ln>
        </p:spPr>
      </p:sp>
      <p:sp>
        <p:nvSpPr>
          <p:cNvPr id="13" name="Text 10"/>
          <p:cNvSpPr/>
          <p:nvPr/>
        </p:nvSpPr>
        <p:spPr>
          <a:xfrm>
            <a:off x="182880" y="4187952"/>
            <a:ext cx="1417320" cy="594360"/>
          </a:xfrm>
          <a:prstGeom prst="rect">
            <a:avLst/>
          </a:prstGeom>
          <a:noFill/>
          <a:ln/>
        </p:spPr>
        <p:txBody>
          <a:bodyPr wrap="square" rtlCol="0" anchor="ctr"/>
          <a:lstStyle/>
          <a:p>
            <a:pPr algn="ctr" indent="0" marL="0">
              <a:buNone/>
            </a:pPr>
            <a:r>
              <a:rPr lang="en-US" sz="1700" b="1" dirty="0">
                <a:solidFill>
                  <a:srgbClr val="CE1126"/>
                </a:solidFill>
              </a:rPr>
              <a:t>93/100</a:t>
            </a:r>
            <a:endParaRPr lang="en-US" sz="1700" dirty="0"/>
          </a:p>
        </p:txBody>
      </p:sp>
      <p:sp>
        <p:nvSpPr>
          <p:cNvPr id="14" name="Text 11"/>
          <p:cNvSpPr/>
          <p:nvPr/>
        </p:nvSpPr>
        <p:spPr>
          <a:xfrm>
            <a:off x="182880" y="4736592"/>
            <a:ext cx="1417320" cy="502920"/>
          </a:xfrm>
          <a:prstGeom prst="rect">
            <a:avLst/>
          </a:prstGeom>
          <a:noFill/>
          <a:ln/>
        </p:spPr>
        <p:txBody>
          <a:bodyPr wrap="square" rtlCol="0" anchor="ctr"/>
          <a:lstStyle/>
          <a:p>
            <a:pPr algn="ctr" indent="0" marL="0">
              <a:buNone/>
            </a:pPr>
            <a:r>
              <a:rPr lang="en-US" sz="1000" dirty="0">
                <a:solidFill>
                  <a:srgbClr val="9099AA"/>
                </a:solidFill>
              </a:rPr>
              <a:t>Headers</a:t>
            </a:r>
            <a:endParaRPr lang="en-US" sz="1000" dirty="0"/>
          </a:p>
        </p:txBody>
      </p:sp>
      <p:sp>
        <p:nvSpPr>
          <p:cNvPr id="15" name="Shape 12"/>
          <p:cNvSpPr/>
          <p:nvPr/>
        </p:nvSpPr>
        <p:spPr>
          <a:xfrm>
            <a:off x="1737360" y="1188720"/>
            <a:ext cx="1417320" cy="1234440"/>
          </a:xfrm>
          <a:prstGeom prst="rect">
            <a:avLst/>
          </a:prstGeom>
          <a:solidFill>
            <a:srgbClr val="161628"/>
          </a:solidFill>
          <a:ln w="12700">
            <a:solidFill>
              <a:srgbClr val="CE1126"/>
            </a:solidFill>
            <a:prstDash val="solid"/>
          </a:ln>
        </p:spPr>
      </p:sp>
      <p:sp>
        <p:nvSpPr>
          <p:cNvPr id="16" name="Text 13"/>
          <p:cNvSpPr/>
          <p:nvPr/>
        </p:nvSpPr>
        <p:spPr>
          <a:xfrm>
            <a:off x="1737360" y="1261872"/>
            <a:ext cx="1417320" cy="594360"/>
          </a:xfrm>
          <a:prstGeom prst="rect">
            <a:avLst/>
          </a:prstGeom>
          <a:noFill/>
          <a:ln/>
        </p:spPr>
        <p:txBody>
          <a:bodyPr wrap="square" rtlCol="0" anchor="ctr"/>
          <a:lstStyle/>
          <a:p>
            <a:pPr algn="ctr" indent="0" marL="0">
              <a:buNone/>
            </a:pPr>
            <a:r>
              <a:rPr lang="en-US" sz="1700" b="1" dirty="0">
                <a:solidFill>
                  <a:srgbClr val="CE1126"/>
                </a:solidFill>
              </a:rPr>
              <a:t>89/100</a:t>
            </a:r>
            <a:endParaRPr lang="en-US" sz="1700" dirty="0"/>
          </a:p>
        </p:txBody>
      </p:sp>
      <p:sp>
        <p:nvSpPr>
          <p:cNvPr id="17" name="Text 14"/>
          <p:cNvSpPr/>
          <p:nvPr/>
        </p:nvSpPr>
        <p:spPr>
          <a:xfrm>
            <a:off x="1737360" y="1810512"/>
            <a:ext cx="1417320" cy="502920"/>
          </a:xfrm>
          <a:prstGeom prst="rect">
            <a:avLst/>
          </a:prstGeom>
          <a:noFill/>
          <a:ln/>
        </p:spPr>
        <p:txBody>
          <a:bodyPr wrap="square" rtlCol="0" anchor="ctr"/>
          <a:lstStyle/>
          <a:p>
            <a:pPr algn="ctr" indent="0" marL="0">
              <a:buNone/>
            </a:pPr>
            <a:r>
              <a:rPr lang="en-US" sz="1000" dirty="0">
                <a:solidFill>
                  <a:srgbClr val="9099AA"/>
                </a:solidFill>
              </a:rPr>
              <a:t>Speed</a:t>
            </a:r>
            <a:endParaRPr lang="en-US" sz="1000" dirty="0"/>
          </a:p>
        </p:txBody>
      </p:sp>
      <p:sp>
        <p:nvSpPr>
          <p:cNvPr id="18" name="Shape 15"/>
          <p:cNvSpPr/>
          <p:nvPr/>
        </p:nvSpPr>
        <p:spPr>
          <a:xfrm>
            <a:off x="1737360" y="2651760"/>
            <a:ext cx="1417320" cy="1234440"/>
          </a:xfrm>
          <a:prstGeom prst="rect">
            <a:avLst/>
          </a:prstGeom>
          <a:solidFill>
            <a:srgbClr val="161628"/>
          </a:solidFill>
          <a:ln w="12700">
            <a:solidFill>
              <a:srgbClr val="CE1126"/>
            </a:solidFill>
            <a:prstDash val="solid"/>
          </a:ln>
        </p:spPr>
      </p:sp>
      <p:sp>
        <p:nvSpPr>
          <p:cNvPr id="19" name="Text 16"/>
          <p:cNvSpPr/>
          <p:nvPr/>
        </p:nvSpPr>
        <p:spPr>
          <a:xfrm>
            <a:off x="1737360" y="2724912"/>
            <a:ext cx="1417320" cy="594360"/>
          </a:xfrm>
          <a:prstGeom prst="rect">
            <a:avLst/>
          </a:prstGeom>
          <a:noFill/>
          <a:ln/>
        </p:spPr>
        <p:txBody>
          <a:bodyPr wrap="square" rtlCol="0" anchor="ctr"/>
          <a:lstStyle/>
          <a:p>
            <a:pPr algn="ctr" indent="0" marL="0">
              <a:buNone/>
            </a:pPr>
            <a:r>
              <a:rPr lang="en-US" sz="1700" b="1" dirty="0">
                <a:solidFill>
                  <a:srgbClr val="CE1126"/>
                </a:solidFill>
              </a:rPr>
              <a:t>93/100</a:t>
            </a:r>
            <a:endParaRPr lang="en-US" sz="1700" dirty="0"/>
          </a:p>
        </p:txBody>
      </p:sp>
      <p:sp>
        <p:nvSpPr>
          <p:cNvPr id="20" name="Text 17"/>
          <p:cNvSpPr/>
          <p:nvPr/>
        </p:nvSpPr>
        <p:spPr>
          <a:xfrm>
            <a:off x="1737360" y="3273552"/>
            <a:ext cx="1417320" cy="502920"/>
          </a:xfrm>
          <a:prstGeom prst="rect">
            <a:avLst/>
          </a:prstGeom>
          <a:noFill/>
          <a:ln/>
        </p:spPr>
        <p:txBody>
          <a:bodyPr wrap="square" rtlCol="0" anchor="ctr"/>
          <a:lstStyle/>
          <a:p>
            <a:pPr algn="ctr" indent="0" marL="0">
              <a:buNone/>
            </a:pPr>
            <a:r>
              <a:rPr lang="en-US" sz="1000" dirty="0">
                <a:solidFill>
                  <a:srgbClr val="9099AA"/>
                </a:solidFill>
              </a:rPr>
              <a:t>Strength</a:t>
            </a:r>
            <a:endParaRPr lang="en-US" sz="1000" dirty="0"/>
          </a:p>
        </p:txBody>
      </p:sp>
      <p:sp>
        <p:nvSpPr>
          <p:cNvPr id="21" name="Shape 18"/>
          <p:cNvSpPr/>
          <p:nvPr/>
        </p:nvSpPr>
        <p:spPr>
          <a:xfrm>
            <a:off x="1737360" y="4114800"/>
            <a:ext cx="1417320" cy="1234440"/>
          </a:xfrm>
          <a:prstGeom prst="rect">
            <a:avLst/>
          </a:prstGeom>
          <a:solidFill>
            <a:srgbClr val="161628"/>
          </a:solidFill>
          <a:ln w="12700">
            <a:solidFill>
              <a:srgbClr val="CE1126"/>
            </a:solidFill>
            <a:prstDash val="solid"/>
          </a:ln>
        </p:spPr>
      </p:sp>
      <p:sp>
        <p:nvSpPr>
          <p:cNvPr id="22" name="Text 19"/>
          <p:cNvSpPr/>
          <p:nvPr/>
        </p:nvSpPr>
        <p:spPr>
          <a:xfrm>
            <a:off x="1737360" y="4187952"/>
            <a:ext cx="1417320" cy="594360"/>
          </a:xfrm>
          <a:prstGeom prst="rect">
            <a:avLst/>
          </a:prstGeom>
          <a:noFill/>
          <a:ln/>
        </p:spPr>
        <p:txBody>
          <a:bodyPr wrap="square" rtlCol="0" anchor="ctr"/>
          <a:lstStyle/>
          <a:p>
            <a:pPr algn="ctr" indent="0" marL="0">
              <a:buNone/>
            </a:pPr>
            <a:r>
              <a:rPr lang="en-US" sz="1700" b="1" dirty="0">
                <a:solidFill>
                  <a:srgbClr val="CE1126"/>
                </a:solidFill>
              </a:rPr>
              <a:t>95/100</a:t>
            </a:r>
            <a:endParaRPr lang="en-US" sz="1700" dirty="0"/>
          </a:p>
        </p:txBody>
      </p:sp>
      <p:sp>
        <p:nvSpPr>
          <p:cNvPr id="23" name="Text 20"/>
          <p:cNvSpPr/>
          <p:nvPr/>
        </p:nvSpPr>
        <p:spPr>
          <a:xfrm>
            <a:off x="1737360" y="4736592"/>
            <a:ext cx="1417320" cy="502920"/>
          </a:xfrm>
          <a:prstGeom prst="rect">
            <a:avLst/>
          </a:prstGeom>
          <a:noFill/>
          <a:ln/>
        </p:spPr>
        <p:txBody>
          <a:bodyPr wrap="square" rtlCol="0" anchor="ctr"/>
          <a:lstStyle/>
          <a:p>
            <a:pPr algn="ctr" indent="0" marL="0">
              <a:buNone/>
            </a:pPr>
            <a:r>
              <a:rPr lang="en-US" sz="1000" dirty="0">
                <a:solidFill>
                  <a:srgbClr val="9099AA"/>
                </a:solidFill>
              </a:rPr>
              <a:t>Leadership</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0D1A"/>
        </a:solidFill>
      </p:bgPr>
    </p:bg>
    <p:spTree>
      <p:nvGrpSpPr>
        <p:cNvPr id="1" name=""/>
        <p:cNvGrpSpPr/>
        <p:nvPr/>
      </p:nvGrpSpPr>
      <p:grpSpPr>
        <a:xfrm>
          <a:off x="0" y="0"/>
          <a:ext cx="0" cy="0"/>
          <a:chOff x="0" y="0"/>
          <a:chExt cx="0" cy="0"/>
        </a:xfrm>
      </p:grpSpPr>
      <p:sp>
        <p:nvSpPr>
          <p:cNvPr id="2" name="Shape 0"/>
          <p:cNvSpPr/>
          <p:nvPr/>
        </p:nvSpPr>
        <p:spPr>
          <a:xfrm>
            <a:off x="0" y="0"/>
            <a:ext cx="12161520" cy="658368"/>
          </a:xfrm>
          <a:prstGeom prst="rect">
            <a:avLst/>
          </a:prstGeom>
          <a:solidFill>
            <a:srgbClr val="CE1126"/>
          </a:solidFill>
          <a:ln w="12700">
            <a:solidFill>
              <a:srgbClr val="CE1126"/>
            </a:solidFill>
            <a:prstDash val="solid"/>
          </a:ln>
        </p:spPr>
      </p:sp>
      <p:sp>
        <p:nvSpPr>
          <p:cNvPr id="3" name="Text 1"/>
          <p:cNvSpPr/>
          <p:nvPr/>
        </p:nvSpPr>
        <p:spPr>
          <a:xfrm>
            <a:off x="365760" y="0"/>
            <a:ext cx="10972800" cy="658368"/>
          </a:xfrm>
          <a:prstGeom prst="rect">
            <a:avLst/>
          </a:prstGeom>
          <a:noFill/>
          <a:ln/>
        </p:spPr>
        <p:txBody>
          <a:bodyPr wrap="square" rtlCol="0" anchor="ctr"/>
          <a:lstStyle/>
          <a:p>
            <a:pPr indent="0" marL="0">
              <a:buNone/>
            </a:pPr>
            <a:r>
              <a:rPr lang="en-US" sz="2200" b="1" spc="200" kern="0" dirty="0">
                <a:solidFill>
                  <a:srgbClr val="FFFFFF"/>
                </a:solidFill>
              </a:rPr>
              <a:t>KEY FINDINGS — Summary</a:t>
            </a:r>
            <a:endParaRPr lang="en-US" sz="2200" dirty="0"/>
          </a:p>
        </p:txBody>
      </p:sp>
      <p:sp>
        <p:nvSpPr>
          <p:cNvPr id="4" name="Shape 2"/>
          <p:cNvSpPr/>
          <p:nvPr/>
        </p:nvSpPr>
        <p:spPr>
          <a:xfrm>
            <a:off x="320040" y="868680"/>
            <a:ext cx="5577840" cy="1691640"/>
          </a:xfrm>
          <a:prstGeom prst="rect">
            <a:avLst/>
          </a:prstGeom>
          <a:solidFill>
            <a:srgbClr val="161628"/>
          </a:solidFill>
          <a:ln w="12700">
            <a:solidFill>
              <a:srgbClr val="2A2A4A"/>
            </a:solidFill>
            <a:prstDash val="solid"/>
          </a:ln>
          <a:effectLst>
            <a:outerShdw sx="100000" sy="100000" kx="0" ky="0" algn="bl" rotWithShape="0" blurRad="127000" dist="38100" dir="8100000">
              <a:srgbClr val="000000">
                <a:alpha val="35000"/>
              </a:srgbClr>
            </a:outerShdw>
          </a:effectLst>
        </p:spPr>
      </p:sp>
      <p:sp>
        <p:nvSpPr>
          <p:cNvPr id="5" name="Shape 3"/>
          <p:cNvSpPr/>
          <p:nvPr/>
        </p:nvSpPr>
        <p:spPr>
          <a:xfrm>
            <a:off x="320040" y="868680"/>
            <a:ext cx="502920" cy="1691640"/>
          </a:xfrm>
          <a:prstGeom prst="rect">
            <a:avLst/>
          </a:prstGeom>
          <a:solidFill>
            <a:srgbClr val="CE1126"/>
          </a:solidFill>
          <a:ln w="12700">
            <a:solidFill>
              <a:srgbClr val="CE1126"/>
            </a:solidFill>
            <a:prstDash val="solid"/>
          </a:ln>
        </p:spPr>
      </p:sp>
      <p:sp>
        <p:nvSpPr>
          <p:cNvPr id="6" name="Text 4"/>
          <p:cNvSpPr/>
          <p:nvPr/>
        </p:nvSpPr>
        <p:spPr>
          <a:xfrm>
            <a:off x="320040" y="868680"/>
            <a:ext cx="502920" cy="1691640"/>
          </a:xfrm>
          <a:prstGeom prst="rect">
            <a:avLst/>
          </a:prstGeom>
          <a:noFill/>
          <a:ln/>
        </p:spPr>
        <p:txBody>
          <a:bodyPr wrap="square" rtlCol="0" anchor="ctr"/>
          <a:lstStyle/>
          <a:p>
            <a:pPr algn="ctr" indent="0" marL="0">
              <a:buNone/>
            </a:pPr>
            <a:r>
              <a:rPr lang="en-US" sz="1400" b="1" dirty="0">
                <a:solidFill>
                  <a:srgbClr val="FFFFFF"/>
                </a:solidFill>
              </a:rPr>
              <a:t>01</a:t>
            </a:r>
            <a:endParaRPr lang="en-US" sz="1400" dirty="0"/>
          </a:p>
        </p:txBody>
      </p:sp>
      <p:sp>
        <p:nvSpPr>
          <p:cNvPr id="7" name="Text 5"/>
          <p:cNvSpPr/>
          <p:nvPr/>
        </p:nvSpPr>
        <p:spPr>
          <a:xfrm>
            <a:off x="914400" y="978408"/>
            <a:ext cx="4846320" cy="384048"/>
          </a:xfrm>
          <a:prstGeom prst="rect">
            <a:avLst/>
          </a:prstGeom>
          <a:noFill/>
          <a:ln/>
        </p:spPr>
        <p:txBody>
          <a:bodyPr wrap="square" rtlCol="0" anchor="ctr"/>
          <a:lstStyle/>
          <a:p>
            <a:pPr indent="0" marL="0">
              <a:buNone/>
            </a:pPr>
            <a:r>
              <a:rPr lang="en-US" sz="1400" b="1" dirty="0">
                <a:solidFill>
                  <a:srgbClr val="F5C518"/>
                </a:solidFill>
              </a:rPr>
              <a:t>Record Scorer</a:t>
            </a:r>
            <a:endParaRPr lang="en-US" sz="1400" dirty="0"/>
          </a:p>
        </p:txBody>
      </p:sp>
      <p:sp>
        <p:nvSpPr>
          <p:cNvPr id="8" name="Text 6"/>
          <p:cNvSpPr/>
          <p:nvPr/>
        </p:nvSpPr>
        <p:spPr>
          <a:xfrm>
            <a:off x="914400" y="1325880"/>
            <a:ext cx="4846320" cy="1097280"/>
          </a:xfrm>
          <a:prstGeom prst="rect">
            <a:avLst/>
          </a:prstGeom>
          <a:noFill/>
          <a:ln/>
        </p:spPr>
        <p:txBody>
          <a:bodyPr wrap="square" rtlCol="0" anchor="ctr"/>
          <a:lstStyle/>
          <a:p>
            <a:pPr indent="0" marL="0">
              <a:buNone/>
            </a:pPr>
            <a:r>
              <a:rPr lang="en-US" sz="1100" dirty="0">
                <a:solidFill>
                  <a:srgbClr val="9099AA"/>
                </a:solidFill>
              </a:rPr>
              <a:t>CR7 is the all-time top scorer in international football with 130+ goals in 196 caps, surpassing all previous records.</a:t>
            </a:r>
            <a:endParaRPr lang="en-US" sz="1100" dirty="0"/>
          </a:p>
        </p:txBody>
      </p:sp>
      <p:sp>
        <p:nvSpPr>
          <p:cNvPr id="9" name="Shape 7"/>
          <p:cNvSpPr/>
          <p:nvPr/>
        </p:nvSpPr>
        <p:spPr>
          <a:xfrm>
            <a:off x="6217920" y="868680"/>
            <a:ext cx="5577840" cy="1691640"/>
          </a:xfrm>
          <a:prstGeom prst="rect">
            <a:avLst/>
          </a:prstGeom>
          <a:solidFill>
            <a:srgbClr val="161628"/>
          </a:solidFill>
          <a:ln w="12700">
            <a:solidFill>
              <a:srgbClr val="2A2A4A"/>
            </a:solidFill>
            <a:prstDash val="solid"/>
          </a:ln>
          <a:effectLst>
            <a:outerShdw sx="100000" sy="100000" kx="0" ky="0" algn="bl" rotWithShape="0" blurRad="127000" dist="38100" dir="8100000">
              <a:srgbClr val="000000">
                <a:alpha val="35000"/>
              </a:srgbClr>
            </a:outerShdw>
          </a:effectLst>
        </p:spPr>
      </p:sp>
      <p:sp>
        <p:nvSpPr>
          <p:cNvPr id="10" name="Shape 8"/>
          <p:cNvSpPr/>
          <p:nvPr/>
        </p:nvSpPr>
        <p:spPr>
          <a:xfrm>
            <a:off x="6217920" y="868680"/>
            <a:ext cx="502920" cy="1691640"/>
          </a:xfrm>
          <a:prstGeom prst="rect">
            <a:avLst/>
          </a:prstGeom>
          <a:solidFill>
            <a:srgbClr val="CE1126"/>
          </a:solidFill>
          <a:ln w="12700">
            <a:solidFill>
              <a:srgbClr val="CE1126"/>
            </a:solidFill>
            <a:prstDash val="solid"/>
          </a:ln>
        </p:spPr>
      </p:sp>
      <p:sp>
        <p:nvSpPr>
          <p:cNvPr id="11" name="Text 9"/>
          <p:cNvSpPr/>
          <p:nvPr/>
        </p:nvSpPr>
        <p:spPr>
          <a:xfrm>
            <a:off x="6217920" y="868680"/>
            <a:ext cx="502920" cy="1691640"/>
          </a:xfrm>
          <a:prstGeom prst="rect">
            <a:avLst/>
          </a:prstGeom>
          <a:noFill/>
          <a:ln/>
        </p:spPr>
        <p:txBody>
          <a:bodyPr wrap="square" rtlCol="0" anchor="ctr"/>
          <a:lstStyle/>
          <a:p>
            <a:pPr algn="ctr" indent="0" marL="0">
              <a:buNone/>
            </a:pPr>
            <a:r>
              <a:rPr lang="en-US" sz="1400" b="1" dirty="0">
                <a:solidFill>
                  <a:srgbClr val="FFFFFF"/>
                </a:solidFill>
              </a:rPr>
              <a:t>02</a:t>
            </a:r>
            <a:endParaRPr lang="en-US" sz="1400" dirty="0"/>
          </a:p>
        </p:txBody>
      </p:sp>
      <p:sp>
        <p:nvSpPr>
          <p:cNvPr id="12" name="Text 10"/>
          <p:cNvSpPr/>
          <p:nvPr/>
        </p:nvSpPr>
        <p:spPr>
          <a:xfrm>
            <a:off x="6812280" y="978408"/>
            <a:ext cx="4846320" cy="384048"/>
          </a:xfrm>
          <a:prstGeom prst="rect">
            <a:avLst/>
          </a:prstGeom>
          <a:noFill/>
          <a:ln/>
        </p:spPr>
        <p:txBody>
          <a:bodyPr wrap="square" rtlCol="0" anchor="ctr"/>
          <a:lstStyle/>
          <a:p>
            <a:pPr indent="0" marL="0">
              <a:buNone/>
            </a:pPr>
            <a:r>
              <a:rPr lang="en-US" sz="1400" b="1" dirty="0">
                <a:solidFill>
                  <a:srgbClr val="F5C518"/>
                </a:solidFill>
              </a:rPr>
              <a:t>Peak Years</a:t>
            </a:r>
            <a:endParaRPr lang="en-US" sz="1400" dirty="0"/>
          </a:p>
        </p:txBody>
      </p:sp>
      <p:sp>
        <p:nvSpPr>
          <p:cNvPr id="13" name="Text 11"/>
          <p:cNvSpPr/>
          <p:nvPr/>
        </p:nvSpPr>
        <p:spPr>
          <a:xfrm>
            <a:off x="6812280" y="1325880"/>
            <a:ext cx="4846320" cy="1097280"/>
          </a:xfrm>
          <a:prstGeom prst="rect">
            <a:avLst/>
          </a:prstGeom>
          <a:noFill/>
          <a:ln/>
        </p:spPr>
        <p:txBody>
          <a:bodyPr wrap="square" rtlCol="0" anchor="ctr"/>
          <a:lstStyle/>
          <a:p>
            <a:pPr indent="0" marL="0">
              <a:buNone/>
            </a:pPr>
            <a:r>
              <a:rPr lang="en-US" sz="1100" dirty="0">
                <a:solidFill>
                  <a:srgbClr val="9099AA"/>
                </a:solidFill>
              </a:rPr>
              <a:t>Best scoring seasons were 2012 and 2016–17, coinciding with Euro 2016 glory and peak club form at Real Madrid.</a:t>
            </a:r>
            <a:endParaRPr lang="en-US" sz="1100" dirty="0"/>
          </a:p>
        </p:txBody>
      </p:sp>
      <p:sp>
        <p:nvSpPr>
          <p:cNvPr id="14" name="Shape 12"/>
          <p:cNvSpPr/>
          <p:nvPr/>
        </p:nvSpPr>
        <p:spPr>
          <a:xfrm>
            <a:off x="320040" y="2743200"/>
            <a:ext cx="5577840" cy="1691640"/>
          </a:xfrm>
          <a:prstGeom prst="rect">
            <a:avLst/>
          </a:prstGeom>
          <a:solidFill>
            <a:srgbClr val="161628"/>
          </a:solidFill>
          <a:ln w="12700">
            <a:solidFill>
              <a:srgbClr val="2A2A4A"/>
            </a:solidFill>
            <a:prstDash val="solid"/>
          </a:ln>
          <a:effectLst>
            <a:outerShdw sx="100000" sy="100000" kx="0" ky="0" algn="bl" rotWithShape="0" blurRad="127000" dist="38100" dir="8100000">
              <a:srgbClr val="000000">
                <a:alpha val="35000"/>
              </a:srgbClr>
            </a:outerShdw>
          </a:effectLst>
        </p:spPr>
      </p:sp>
      <p:sp>
        <p:nvSpPr>
          <p:cNvPr id="15" name="Shape 13"/>
          <p:cNvSpPr/>
          <p:nvPr/>
        </p:nvSpPr>
        <p:spPr>
          <a:xfrm>
            <a:off x="320040" y="2743200"/>
            <a:ext cx="502920" cy="1691640"/>
          </a:xfrm>
          <a:prstGeom prst="rect">
            <a:avLst/>
          </a:prstGeom>
          <a:solidFill>
            <a:srgbClr val="CE1126"/>
          </a:solidFill>
          <a:ln w="12700">
            <a:solidFill>
              <a:srgbClr val="CE1126"/>
            </a:solidFill>
            <a:prstDash val="solid"/>
          </a:ln>
        </p:spPr>
      </p:sp>
      <p:sp>
        <p:nvSpPr>
          <p:cNvPr id="16" name="Text 14"/>
          <p:cNvSpPr/>
          <p:nvPr/>
        </p:nvSpPr>
        <p:spPr>
          <a:xfrm>
            <a:off x="320040" y="2743200"/>
            <a:ext cx="502920" cy="1691640"/>
          </a:xfrm>
          <a:prstGeom prst="rect">
            <a:avLst/>
          </a:prstGeom>
          <a:noFill/>
          <a:ln/>
        </p:spPr>
        <p:txBody>
          <a:bodyPr wrap="square" rtlCol="0" anchor="ctr"/>
          <a:lstStyle/>
          <a:p>
            <a:pPr algn="ctr" indent="0" marL="0">
              <a:buNone/>
            </a:pPr>
            <a:r>
              <a:rPr lang="en-US" sz="1400" b="1" dirty="0">
                <a:solidFill>
                  <a:srgbClr val="FFFFFF"/>
                </a:solidFill>
              </a:rPr>
              <a:t>03</a:t>
            </a:r>
            <a:endParaRPr lang="en-US" sz="1400" dirty="0"/>
          </a:p>
        </p:txBody>
      </p:sp>
      <p:sp>
        <p:nvSpPr>
          <p:cNvPr id="17" name="Text 15"/>
          <p:cNvSpPr/>
          <p:nvPr/>
        </p:nvSpPr>
        <p:spPr>
          <a:xfrm>
            <a:off x="914400" y="2852928"/>
            <a:ext cx="4846320" cy="384048"/>
          </a:xfrm>
          <a:prstGeom prst="rect">
            <a:avLst/>
          </a:prstGeom>
          <a:noFill/>
          <a:ln/>
        </p:spPr>
        <p:txBody>
          <a:bodyPr wrap="square" rtlCol="0" anchor="ctr"/>
          <a:lstStyle/>
          <a:p>
            <a:pPr indent="0" marL="0">
              <a:buNone/>
            </a:pPr>
            <a:r>
              <a:rPr lang="en-US" sz="1400" b="1" dirty="0">
                <a:solidFill>
                  <a:srgbClr val="F5C518"/>
                </a:solidFill>
              </a:rPr>
              <a:t>Qualifier Machine</a:t>
            </a:r>
            <a:endParaRPr lang="en-US" sz="1400" dirty="0"/>
          </a:p>
        </p:txBody>
      </p:sp>
      <p:sp>
        <p:nvSpPr>
          <p:cNvPr id="18" name="Text 16"/>
          <p:cNvSpPr/>
          <p:nvPr/>
        </p:nvSpPr>
        <p:spPr>
          <a:xfrm>
            <a:off x="914400" y="3200400"/>
            <a:ext cx="4846320" cy="1097280"/>
          </a:xfrm>
          <a:prstGeom prst="rect">
            <a:avLst/>
          </a:prstGeom>
          <a:noFill/>
          <a:ln/>
        </p:spPr>
        <p:txBody>
          <a:bodyPr wrap="square" rtlCol="0" anchor="ctr"/>
          <a:lstStyle/>
          <a:p>
            <a:pPr indent="0" marL="0">
              <a:buNone/>
            </a:pPr>
            <a:r>
              <a:rPr lang="en-US" sz="1100" dirty="0">
                <a:solidFill>
                  <a:srgbClr val="9099AA"/>
                </a:solidFill>
              </a:rPr>
              <a:t>Over 78 qualifying goals across World Cup &amp; Euro campaigns — he consistently delivers when qualification is on the line.</a:t>
            </a:r>
            <a:endParaRPr lang="en-US" sz="1100" dirty="0"/>
          </a:p>
        </p:txBody>
      </p:sp>
      <p:sp>
        <p:nvSpPr>
          <p:cNvPr id="19" name="Shape 17"/>
          <p:cNvSpPr/>
          <p:nvPr/>
        </p:nvSpPr>
        <p:spPr>
          <a:xfrm>
            <a:off x="6217920" y="2743200"/>
            <a:ext cx="5577840" cy="1691640"/>
          </a:xfrm>
          <a:prstGeom prst="rect">
            <a:avLst/>
          </a:prstGeom>
          <a:solidFill>
            <a:srgbClr val="161628"/>
          </a:solidFill>
          <a:ln w="12700">
            <a:solidFill>
              <a:srgbClr val="2A2A4A"/>
            </a:solidFill>
            <a:prstDash val="solid"/>
          </a:ln>
          <a:effectLst>
            <a:outerShdw sx="100000" sy="100000" kx="0" ky="0" algn="bl" rotWithShape="0" blurRad="127000" dist="38100" dir="8100000">
              <a:srgbClr val="000000">
                <a:alpha val="35000"/>
              </a:srgbClr>
            </a:outerShdw>
          </a:effectLst>
        </p:spPr>
      </p:sp>
      <p:sp>
        <p:nvSpPr>
          <p:cNvPr id="20" name="Shape 18"/>
          <p:cNvSpPr/>
          <p:nvPr/>
        </p:nvSpPr>
        <p:spPr>
          <a:xfrm>
            <a:off x="6217920" y="2743200"/>
            <a:ext cx="502920" cy="1691640"/>
          </a:xfrm>
          <a:prstGeom prst="rect">
            <a:avLst/>
          </a:prstGeom>
          <a:solidFill>
            <a:srgbClr val="CE1126"/>
          </a:solidFill>
          <a:ln w="12700">
            <a:solidFill>
              <a:srgbClr val="CE1126"/>
            </a:solidFill>
            <a:prstDash val="solid"/>
          </a:ln>
        </p:spPr>
      </p:sp>
      <p:sp>
        <p:nvSpPr>
          <p:cNvPr id="21" name="Text 19"/>
          <p:cNvSpPr/>
          <p:nvPr/>
        </p:nvSpPr>
        <p:spPr>
          <a:xfrm>
            <a:off x="6217920" y="2743200"/>
            <a:ext cx="502920" cy="1691640"/>
          </a:xfrm>
          <a:prstGeom prst="rect">
            <a:avLst/>
          </a:prstGeom>
          <a:noFill/>
          <a:ln/>
        </p:spPr>
        <p:txBody>
          <a:bodyPr wrap="square" rtlCol="0" anchor="ctr"/>
          <a:lstStyle/>
          <a:p>
            <a:pPr algn="ctr" indent="0" marL="0">
              <a:buNone/>
            </a:pPr>
            <a:r>
              <a:rPr lang="en-US" sz="1400" b="1" dirty="0">
                <a:solidFill>
                  <a:srgbClr val="FFFFFF"/>
                </a:solidFill>
              </a:rPr>
              <a:t>04</a:t>
            </a:r>
            <a:endParaRPr lang="en-US" sz="1400" dirty="0"/>
          </a:p>
        </p:txBody>
      </p:sp>
      <p:sp>
        <p:nvSpPr>
          <p:cNvPr id="22" name="Text 20"/>
          <p:cNvSpPr/>
          <p:nvPr/>
        </p:nvSpPr>
        <p:spPr>
          <a:xfrm>
            <a:off x="6812280" y="2852928"/>
            <a:ext cx="4846320" cy="384048"/>
          </a:xfrm>
          <a:prstGeom prst="rect">
            <a:avLst/>
          </a:prstGeom>
          <a:noFill/>
          <a:ln/>
        </p:spPr>
        <p:txBody>
          <a:bodyPr wrap="square" rtlCol="0" anchor="ctr"/>
          <a:lstStyle/>
          <a:p>
            <a:pPr indent="0" marL="0">
              <a:buNone/>
            </a:pPr>
            <a:r>
              <a:rPr lang="en-US" sz="1400" b="1" dirty="0">
                <a:solidFill>
                  <a:srgbClr val="F5C518"/>
                </a:solidFill>
              </a:rPr>
              <a:t>Efficiency Growth</a:t>
            </a:r>
            <a:endParaRPr lang="en-US" sz="1400" dirty="0"/>
          </a:p>
        </p:txBody>
      </p:sp>
      <p:sp>
        <p:nvSpPr>
          <p:cNvPr id="23" name="Text 21"/>
          <p:cNvSpPr/>
          <p:nvPr/>
        </p:nvSpPr>
        <p:spPr>
          <a:xfrm>
            <a:off x="6812280" y="3200400"/>
            <a:ext cx="4846320" cy="1097280"/>
          </a:xfrm>
          <a:prstGeom prst="rect">
            <a:avLst/>
          </a:prstGeom>
          <a:noFill/>
          <a:ln/>
        </p:spPr>
        <p:txBody>
          <a:bodyPr wrap="square" rtlCol="0" anchor="ctr"/>
          <a:lstStyle/>
          <a:p>
            <a:pPr indent="0" marL="0">
              <a:buNone/>
            </a:pPr>
            <a:r>
              <a:rPr lang="en-US" sz="1100" dirty="0">
                <a:solidFill>
                  <a:srgbClr val="9099AA"/>
                </a:solidFill>
              </a:rPr>
              <a:t>Goals-per-cap ratio improved steadily from 2009 onward, showing that Ronaldo became a more lethal finisher with age.</a:t>
            </a:r>
            <a:endParaRPr lang="en-US" sz="1100" dirty="0"/>
          </a:p>
        </p:txBody>
      </p:sp>
      <p:sp>
        <p:nvSpPr>
          <p:cNvPr id="24" name="Shape 22"/>
          <p:cNvSpPr/>
          <p:nvPr/>
        </p:nvSpPr>
        <p:spPr>
          <a:xfrm>
            <a:off x="320040" y="4617720"/>
            <a:ext cx="5577840" cy="1691640"/>
          </a:xfrm>
          <a:prstGeom prst="rect">
            <a:avLst/>
          </a:prstGeom>
          <a:solidFill>
            <a:srgbClr val="161628"/>
          </a:solidFill>
          <a:ln w="12700">
            <a:solidFill>
              <a:srgbClr val="2A2A4A"/>
            </a:solidFill>
            <a:prstDash val="solid"/>
          </a:ln>
          <a:effectLst>
            <a:outerShdw sx="100000" sy="100000" kx="0" ky="0" algn="bl" rotWithShape="0" blurRad="127000" dist="38100" dir="8100000">
              <a:srgbClr val="000000">
                <a:alpha val="35000"/>
              </a:srgbClr>
            </a:outerShdw>
          </a:effectLst>
        </p:spPr>
      </p:sp>
      <p:sp>
        <p:nvSpPr>
          <p:cNvPr id="25" name="Shape 23"/>
          <p:cNvSpPr/>
          <p:nvPr/>
        </p:nvSpPr>
        <p:spPr>
          <a:xfrm>
            <a:off x="320040" y="4617720"/>
            <a:ext cx="502920" cy="1691640"/>
          </a:xfrm>
          <a:prstGeom prst="rect">
            <a:avLst/>
          </a:prstGeom>
          <a:solidFill>
            <a:srgbClr val="CE1126"/>
          </a:solidFill>
          <a:ln w="12700">
            <a:solidFill>
              <a:srgbClr val="CE1126"/>
            </a:solidFill>
            <a:prstDash val="solid"/>
          </a:ln>
        </p:spPr>
      </p:sp>
      <p:sp>
        <p:nvSpPr>
          <p:cNvPr id="26" name="Text 24"/>
          <p:cNvSpPr/>
          <p:nvPr/>
        </p:nvSpPr>
        <p:spPr>
          <a:xfrm>
            <a:off x="320040" y="4617720"/>
            <a:ext cx="502920" cy="1691640"/>
          </a:xfrm>
          <a:prstGeom prst="rect">
            <a:avLst/>
          </a:prstGeom>
          <a:noFill/>
          <a:ln/>
        </p:spPr>
        <p:txBody>
          <a:bodyPr wrap="square" rtlCol="0" anchor="ctr"/>
          <a:lstStyle/>
          <a:p>
            <a:pPr algn="ctr" indent="0" marL="0">
              <a:buNone/>
            </a:pPr>
            <a:r>
              <a:rPr lang="en-US" sz="1400" b="1" dirty="0">
                <a:solidFill>
                  <a:srgbClr val="FFFFFF"/>
                </a:solidFill>
              </a:rPr>
              <a:t>05</a:t>
            </a:r>
            <a:endParaRPr lang="en-US" sz="1400" dirty="0"/>
          </a:p>
        </p:txBody>
      </p:sp>
      <p:sp>
        <p:nvSpPr>
          <p:cNvPr id="27" name="Text 25"/>
          <p:cNvSpPr/>
          <p:nvPr/>
        </p:nvSpPr>
        <p:spPr>
          <a:xfrm>
            <a:off x="914400" y="4727448"/>
            <a:ext cx="4846320" cy="384048"/>
          </a:xfrm>
          <a:prstGeom prst="rect">
            <a:avLst/>
          </a:prstGeom>
          <a:noFill/>
          <a:ln/>
        </p:spPr>
        <p:txBody>
          <a:bodyPr wrap="square" rtlCol="0" anchor="ctr"/>
          <a:lstStyle/>
          <a:p>
            <a:pPr indent="0" marL="0">
              <a:buNone/>
            </a:pPr>
            <a:r>
              <a:rPr lang="en-US" sz="1400" b="1" dirty="0">
                <a:solidFill>
                  <a:srgbClr val="F5C518"/>
                </a:solidFill>
              </a:rPr>
              <a:t>Away Prowess</a:t>
            </a:r>
            <a:endParaRPr lang="en-US" sz="1400" dirty="0"/>
          </a:p>
        </p:txBody>
      </p:sp>
      <p:sp>
        <p:nvSpPr>
          <p:cNvPr id="28" name="Text 26"/>
          <p:cNvSpPr/>
          <p:nvPr/>
        </p:nvSpPr>
        <p:spPr>
          <a:xfrm>
            <a:off x="914400" y="5074920"/>
            <a:ext cx="4846320" cy="1097280"/>
          </a:xfrm>
          <a:prstGeom prst="rect">
            <a:avLst/>
          </a:prstGeom>
          <a:noFill/>
          <a:ln/>
        </p:spPr>
        <p:txBody>
          <a:bodyPr wrap="square" rtlCol="0" anchor="ctr"/>
          <a:lstStyle/>
          <a:p>
            <a:pPr indent="0" marL="0">
              <a:buNone/>
            </a:pPr>
            <a:r>
              <a:rPr lang="en-US" sz="1100" dirty="0">
                <a:solidFill>
                  <a:srgbClr val="9099AA"/>
                </a:solidFill>
              </a:rPr>
              <a:t>41% of goals scored away from home — dispels the myth that he only performs in front of a supporting crowd.</a:t>
            </a:r>
            <a:endParaRPr lang="en-US" sz="1100" dirty="0"/>
          </a:p>
        </p:txBody>
      </p:sp>
      <p:sp>
        <p:nvSpPr>
          <p:cNvPr id="29" name="Shape 27"/>
          <p:cNvSpPr/>
          <p:nvPr/>
        </p:nvSpPr>
        <p:spPr>
          <a:xfrm>
            <a:off x="6217920" y="4617720"/>
            <a:ext cx="5577840" cy="1691640"/>
          </a:xfrm>
          <a:prstGeom prst="rect">
            <a:avLst/>
          </a:prstGeom>
          <a:solidFill>
            <a:srgbClr val="161628"/>
          </a:solidFill>
          <a:ln w="12700">
            <a:solidFill>
              <a:srgbClr val="2A2A4A"/>
            </a:solidFill>
            <a:prstDash val="solid"/>
          </a:ln>
          <a:effectLst>
            <a:outerShdw sx="100000" sy="100000" kx="0" ky="0" algn="bl" rotWithShape="0" blurRad="127000" dist="38100" dir="8100000">
              <a:srgbClr val="000000">
                <a:alpha val="35000"/>
              </a:srgbClr>
            </a:outerShdw>
          </a:effectLst>
        </p:spPr>
      </p:sp>
      <p:sp>
        <p:nvSpPr>
          <p:cNvPr id="30" name="Shape 28"/>
          <p:cNvSpPr/>
          <p:nvPr/>
        </p:nvSpPr>
        <p:spPr>
          <a:xfrm>
            <a:off x="6217920" y="4617720"/>
            <a:ext cx="502920" cy="1691640"/>
          </a:xfrm>
          <a:prstGeom prst="rect">
            <a:avLst/>
          </a:prstGeom>
          <a:solidFill>
            <a:srgbClr val="CE1126"/>
          </a:solidFill>
          <a:ln w="12700">
            <a:solidFill>
              <a:srgbClr val="CE1126"/>
            </a:solidFill>
            <a:prstDash val="solid"/>
          </a:ln>
        </p:spPr>
      </p:sp>
      <p:sp>
        <p:nvSpPr>
          <p:cNvPr id="31" name="Text 29"/>
          <p:cNvSpPr/>
          <p:nvPr/>
        </p:nvSpPr>
        <p:spPr>
          <a:xfrm>
            <a:off x="6217920" y="4617720"/>
            <a:ext cx="502920" cy="1691640"/>
          </a:xfrm>
          <a:prstGeom prst="rect">
            <a:avLst/>
          </a:prstGeom>
          <a:noFill/>
          <a:ln/>
        </p:spPr>
        <p:txBody>
          <a:bodyPr wrap="square" rtlCol="0" anchor="ctr"/>
          <a:lstStyle/>
          <a:p>
            <a:pPr algn="ctr" indent="0" marL="0">
              <a:buNone/>
            </a:pPr>
            <a:r>
              <a:rPr lang="en-US" sz="1400" b="1" dirty="0">
                <a:solidFill>
                  <a:srgbClr val="FFFFFF"/>
                </a:solidFill>
              </a:rPr>
              <a:t>06</a:t>
            </a:r>
            <a:endParaRPr lang="en-US" sz="1400" dirty="0"/>
          </a:p>
        </p:txBody>
      </p:sp>
      <p:sp>
        <p:nvSpPr>
          <p:cNvPr id="32" name="Text 30"/>
          <p:cNvSpPr/>
          <p:nvPr/>
        </p:nvSpPr>
        <p:spPr>
          <a:xfrm>
            <a:off x="6812280" y="4727448"/>
            <a:ext cx="4846320" cy="384048"/>
          </a:xfrm>
          <a:prstGeom prst="rect">
            <a:avLst/>
          </a:prstGeom>
          <a:noFill/>
          <a:ln/>
        </p:spPr>
        <p:txBody>
          <a:bodyPr wrap="square" rtlCol="0" anchor="ctr"/>
          <a:lstStyle/>
          <a:p>
            <a:pPr indent="0" marL="0">
              <a:buNone/>
            </a:pPr>
            <a:r>
              <a:rPr lang="en-US" sz="1400" b="1" dirty="0">
                <a:solidFill>
                  <a:srgbClr val="F5C518"/>
                </a:solidFill>
              </a:rPr>
              <a:t>Elite Profile</a:t>
            </a:r>
            <a:endParaRPr lang="en-US" sz="1400" dirty="0"/>
          </a:p>
        </p:txBody>
      </p:sp>
      <p:sp>
        <p:nvSpPr>
          <p:cNvPr id="33" name="Text 31"/>
          <p:cNvSpPr/>
          <p:nvPr/>
        </p:nvSpPr>
        <p:spPr>
          <a:xfrm>
            <a:off x="6812280" y="5074920"/>
            <a:ext cx="4846320" cy="1097280"/>
          </a:xfrm>
          <a:prstGeom prst="rect">
            <a:avLst/>
          </a:prstGeom>
          <a:noFill/>
          <a:ln/>
        </p:spPr>
        <p:txBody>
          <a:bodyPr wrap="square" rtlCol="0" anchor="ctr"/>
          <a:lstStyle/>
          <a:p>
            <a:pPr indent="0" marL="0">
              <a:buNone/>
            </a:pPr>
            <a:r>
              <a:rPr lang="en-US" sz="1100" dirty="0">
                <a:solidFill>
                  <a:srgbClr val="9099AA"/>
                </a:solidFill>
              </a:rPr>
              <a:t>Attribute radar confirms a rare combination: finishing + heading + leadership — the complete modern forward.</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0D1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E1126"/>
          </a:solidFill>
          <a:ln w="12700">
            <a:solidFill>
              <a:srgbClr val="CE1126"/>
            </a:solidFill>
            <a:prstDash val="solid"/>
          </a:ln>
        </p:spPr>
      </p:sp>
      <p:sp>
        <p:nvSpPr>
          <p:cNvPr id="3" name="Shape 1"/>
          <p:cNvSpPr/>
          <p:nvPr/>
        </p:nvSpPr>
        <p:spPr>
          <a:xfrm>
            <a:off x="164592" y="0"/>
            <a:ext cx="73152" cy="6858000"/>
          </a:xfrm>
          <a:prstGeom prst="rect">
            <a:avLst/>
          </a:prstGeom>
          <a:solidFill>
            <a:srgbClr val="006600"/>
          </a:solidFill>
          <a:ln w="12700">
            <a:solidFill>
              <a:srgbClr val="006600"/>
            </a:solidFill>
            <a:prstDash val="solid"/>
          </a:ln>
        </p:spPr>
      </p:sp>
      <p:sp>
        <p:nvSpPr>
          <p:cNvPr id="4" name="Text 2"/>
          <p:cNvSpPr/>
          <p:nvPr/>
        </p:nvSpPr>
        <p:spPr>
          <a:xfrm>
            <a:off x="502920" y="548640"/>
            <a:ext cx="11338560" cy="640080"/>
          </a:xfrm>
          <a:prstGeom prst="rect">
            <a:avLst/>
          </a:prstGeom>
          <a:noFill/>
          <a:ln/>
        </p:spPr>
        <p:txBody>
          <a:bodyPr wrap="square" rtlCol="0" anchor="ctr"/>
          <a:lstStyle/>
          <a:p>
            <a:pPr indent="0" marL="0">
              <a:buNone/>
            </a:pPr>
            <a:r>
              <a:rPr lang="en-US" sz="3200" b="1" spc="600" kern="0" dirty="0">
                <a:solidFill>
                  <a:srgbClr val="CE1126"/>
                </a:solidFill>
              </a:rPr>
              <a:t>CONCLUSION</a:t>
            </a:r>
            <a:endParaRPr lang="en-US" sz="3200" dirty="0"/>
          </a:p>
        </p:txBody>
      </p:sp>
      <p:sp>
        <p:nvSpPr>
          <p:cNvPr id="5" name="Text 3"/>
          <p:cNvSpPr/>
          <p:nvPr/>
        </p:nvSpPr>
        <p:spPr>
          <a:xfrm>
            <a:off x="502920" y="1188720"/>
            <a:ext cx="11338560" cy="457200"/>
          </a:xfrm>
          <a:prstGeom prst="rect">
            <a:avLst/>
          </a:prstGeom>
          <a:noFill/>
          <a:ln/>
        </p:spPr>
        <p:txBody>
          <a:bodyPr wrap="square" rtlCol="0" anchor="ctr"/>
          <a:lstStyle/>
          <a:p>
            <a:pPr indent="0" marL="0">
              <a:buNone/>
            </a:pPr>
            <a:r>
              <a:rPr lang="en-US" sz="1800" dirty="0">
                <a:solidFill>
                  <a:srgbClr val="F5C518"/>
                </a:solidFill>
              </a:rPr>
              <a:t>Cristiano Ronaldo — A Data-Backed Legacy</a:t>
            </a:r>
            <a:endParaRPr lang="en-US" sz="1800" dirty="0"/>
          </a:p>
        </p:txBody>
      </p:sp>
      <p:sp>
        <p:nvSpPr>
          <p:cNvPr id="6" name="Text 4"/>
          <p:cNvSpPr/>
          <p:nvPr/>
        </p:nvSpPr>
        <p:spPr>
          <a:xfrm>
            <a:off x="502920" y="1828800"/>
            <a:ext cx="11338560" cy="2560320"/>
          </a:xfrm>
          <a:prstGeom prst="rect">
            <a:avLst/>
          </a:prstGeom>
          <a:noFill/>
          <a:ln/>
        </p:spPr>
        <p:txBody>
          <a:bodyPr wrap="square" rtlCol="0" anchor="ctr"/>
          <a:lstStyle/>
          <a:p>
            <a:pPr indent="0" marL="0">
              <a:lnSpc>
                <a:spcPct val="140000"/>
              </a:lnSpc>
              <a:buNone/>
            </a:pPr>
            <a:r>
              <a:rPr lang="en-US" sz="1300" dirty="0">
                <a:solidFill>
                  <a:srgbClr val="9099AA"/>
                </a:solidFill>
              </a:rPr>
              <a:t>This Exploratory Data Analysis confirms what football fans have witnessed for two decades: Cristiano Ronaldo is not merely a great player — he is the most prolific international goalscorer in the history of the sport. The data reveals a player who continuously improved his efficiency, delivered in critical qualifying matches, and maintained elite performance across home and away fixtures alike. His attribute profile combines physical dominance with technical brilliance, and his career arc shows a sustained peak that defied conventional wisdom about age and decline. Portugal's national team record was fundamentally transformed by Ronaldo's presence, and the numbers tell that story clearly.</a:t>
            </a:r>
            <a:endParaRPr lang="en-US" sz="1300" dirty="0"/>
          </a:p>
        </p:txBody>
      </p:sp>
      <p:sp>
        <p:nvSpPr>
          <p:cNvPr id="7" name="Shape 5"/>
          <p:cNvSpPr/>
          <p:nvPr/>
        </p:nvSpPr>
        <p:spPr>
          <a:xfrm>
            <a:off x="502920" y="4526280"/>
            <a:ext cx="11338560" cy="27432"/>
          </a:xfrm>
          <a:prstGeom prst="rect">
            <a:avLst/>
          </a:prstGeom>
          <a:solidFill>
            <a:srgbClr val="CE1126"/>
          </a:solidFill>
          <a:ln w="12700">
            <a:solidFill>
              <a:srgbClr val="CE1126"/>
            </a:solidFill>
            <a:prstDash val="solid"/>
          </a:ln>
        </p:spPr>
      </p:sp>
      <p:sp>
        <p:nvSpPr>
          <p:cNvPr id="8" name="Text 6"/>
          <p:cNvSpPr/>
          <p:nvPr/>
        </p:nvSpPr>
        <p:spPr>
          <a:xfrm>
            <a:off x="502920" y="4663440"/>
            <a:ext cx="11338560" cy="365760"/>
          </a:xfrm>
          <a:prstGeom prst="rect">
            <a:avLst/>
          </a:prstGeom>
          <a:noFill/>
          <a:ln/>
        </p:spPr>
        <p:txBody>
          <a:bodyPr wrap="square" rtlCol="0" anchor="ctr"/>
          <a:lstStyle/>
          <a:p>
            <a:pPr algn="ctr" indent="0" marL="0">
              <a:buNone/>
            </a:pPr>
            <a:r>
              <a:rPr lang="en-US" sz="1000" dirty="0">
                <a:solidFill>
                  <a:srgbClr val="444466"/>
                </a:solidFill>
              </a:rPr>
              <a:t>Dataset: International Football Results 1872–2017 | Kaggle  •  Analysis: Python (Pandas, Matplotlib, Seaborn)  •  EDA Project</a:t>
            </a:r>
            <a:endParaRPr lang="en-US" sz="1000" dirty="0"/>
          </a:p>
        </p:txBody>
      </p:sp>
      <p:sp>
        <p:nvSpPr>
          <p:cNvPr id="9" name="Text 7"/>
          <p:cNvSpPr/>
          <p:nvPr/>
        </p:nvSpPr>
        <p:spPr>
          <a:xfrm>
            <a:off x="502920" y="5212080"/>
            <a:ext cx="11338560" cy="548640"/>
          </a:xfrm>
          <a:prstGeom prst="rect">
            <a:avLst/>
          </a:prstGeom>
          <a:noFill/>
          <a:ln/>
        </p:spPr>
        <p:txBody>
          <a:bodyPr wrap="square" rtlCol="0" anchor="ctr"/>
          <a:lstStyle/>
          <a:p>
            <a:pPr algn="ctr" indent="0" marL="0">
              <a:buNone/>
            </a:pPr>
            <a:r>
              <a:rPr lang="en-US" sz="1500" i="1" dirty="0">
                <a:solidFill>
                  <a:srgbClr val="FFFFFF"/>
                </a:solidFill>
              </a:rPr>
              <a:t>"I am not a perfectionist, but I like to feel that things are done well."</a:t>
            </a:r>
            <a:endParaRPr lang="en-US" sz="1500" dirty="0"/>
          </a:p>
        </p:txBody>
      </p:sp>
      <p:sp>
        <p:nvSpPr>
          <p:cNvPr id="10" name="Text 8"/>
          <p:cNvSpPr/>
          <p:nvPr/>
        </p:nvSpPr>
        <p:spPr>
          <a:xfrm>
            <a:off x="502920" y="5715000"/>
            <a:ext cx="11338560" cy="365760"/>
          </a:xfrm>
          <a:prstGeom prst="rect">
            <a:avLst/>
          </a:prstGeom>
          <a:noFill/>
          <a:ln/>
        </p:spPr>
        <p:txBody>
          <a:bodyPr wrap="square" rtlCol="0" anchor="ctr"/>
          <a:lstStyle/>
          <a:p>
            <a:pPr algn="ctr" indent="0" marL="0">
              <a:buNone/>
            </a:pPr>
            <a:r>
              <a:rPr lang="en-US" sz="1200" dirty="0">
                <a:solidFill>
                  <a:srgbClr val="F5C518"/>
                </a:solidFill>
              </a:rPr>
              <a:t>— Cristiano Ronaldo</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Cristiano Ronaldo Career Analysis</dc:title>
  <dc:subject>PptxGenJS Presentation</dc:subject>
  <dc:creator>Football EDA Project</dc:creator>
  <cp:lastModifiedBy>Football EDA Project</cp:lastModifiedBy>
  <cp:revision>1</cp:revision>
  <dcterms:created xsi:type="dcterms:W3CDTF">2026-05-23T09:45:00Z</dcterms:created>
  <dcterms:modified xsi:type="dcterms:W3CDTF">2026-05-23T09:45:00Z</dcterms:modified>
</cp:coreProperties>
</file>